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7" r:id="rId2"/>
    <p:sldId id="265" r:id="rId3"/>
    <p:sldId id="266" r:id="rId4"/>
    <p:sldId id="297" r:id="rId5"/>
    <p:sldId id="267" r:id="rId6"/>
    <p:sldId id="298" r:id="rId7"/>
    <p:sldId id="300" r:id="rId8"/>
    <p:sldId id="261" r:id="rId9"/>
    <p:sldId id="262" r:id="rId10"/>
    <p:sldId id="288" r:id="rId11"/>
    <p:sldId id="291" r:id="rId12"/>
    <p:sldId id="289" r:id="rId13"/>
    <p:sldId id="299" r:id="rId14"/>
    <p:sldId id="292" r:id="rId15"/>
    <p:sldId id="282" r:id="rId16"/>
    <p:sldId id="283" r:id="rId17"/>
    <p:sldId id="284" r:id="rId18"/>
    <p:sldId id="290" r:id="rId19"/>
    <p:sldId id="276" r:id="rId20"/>
    <p:sldId id="293" r:id="rId21"/>
    <p:sldId id="301" r:id="rId22"/>
    <p:sldId id="294" r:id="rId23"/>
    <p:sldId id="295" r:id="rId2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950" y="9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5CBB67-D00B-41F9-9F7F-E90654003487}" type="datetimeFigureOut">
              <a:rPr lang="fr-FR" smtClean="0"/>
              <a:t>24/06/2025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69350B-AF0A-44AA-ABF0-84FF97FABAC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346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7E1A51-CBC2-4A49-AD9D-794A6FC319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D965D55-247B-45E9-9008-0122A6B589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E62BF96-42D8-45F7-9367-C381453AC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24C39-7794-4E49-B1AC-5425B1FB68B5}" type="datetime1">
              <a:rPr lang="fr-FR" smtClean="0"/>
              <a:t>24/06/2025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5000DDA-DA5B-425E-93A7-F6F0F4C65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1B2BA28-B3A2-48EC-8E5A-32DC049F7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54B72-9C63-4F24-BB69-DA53AAEBB3A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10292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59B1D8-DFF4-4358-9E90-DB855478C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1811C5D-A7E2-4F1E-9606-5CDE202281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F9107E7-3916-44DB-9AEE-0C1E6368A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75AAC-2A41-43D3-AE15-79C13372D56E}" type="datetime1">
              <a:rPr lang="fr-FR" smtClean="0"/>
              <a:t>24/06/2025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354A764-069A-44DA-A3A8-98D620007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E9D2C50-F252-4D32-98D8-9DAE40B4F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54B72-9C63-4F24-BB69-DA53AAEBB3A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5827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DC60BB-B19C-4C0A-8069-E25C671C0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9C37DBB-B043-4E6F-B1F1-75B7324BB1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C9E460B-B011-4B99-A387-64936F7C2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1BB8D-E844-4731-8975-51FE27430438}" type="datetime1">
              <a:rPr lang="fr-FR" smtClean="0"/>
              <a:t>24/06/2025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2E2ABC9-5331-4A6D-BECA-0D288B144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4A95D71-1BB7-43B6-AE94-5E76F94A4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54B72-9C63-4F24-BB69-DA53AAEBB3A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764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5B150D-835F-4D57-B760-0E875B7A4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A0592B9-E761-4D5F-9078-F3B19BD7A2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2BF781C-F61B-4573-860A-0E95B3B132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B9ADEB9-BD8F-4AE1-A573-496F989A6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36E7B-7267-4C95-8944-57F721F6479A}" type="datetime1">
              <a:rPr lang="fr-FR" smtClean="0"/>
              <a:t>24/06/2025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E84FE1C-EE95-4709-905A-CCC351AC6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76CE279-5292-4B95-94DF-C1ACB2F51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54B72-9C63-4F24-BB69-DA53AAEBB3A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7880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538F36-40D5-4190-BF3F-AFD788405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946D5A3-C5AD-4D0C-A870-EFF62A3000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E03741D-2E73-4F6C-9E61-09320A8C47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82D75C1-FA3B-4F54-8742-19DBF0FEF1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7AD1590-8372-4F04-BEED-9FD7BFBC21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90204D3-2D34-41F0-A269-3BAD7039C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02B15-1321-4CDD-BDF2-96486AE85CB7}" type="datetime1">
              <a:rPr lang="fr-FR" smtClean="0"/>
              <a:t>24/06/2025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620EA16-7643-45A2-BFE5-6C10FA828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EBF5A79-DBFA-4EAA-802C-CFBA92155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54B72-9C63-4F24-BB69-DA53AAEBB3A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3984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C8486F-00DE-43FC-9CDD-3D54F27E1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A425386-F6B0-4214-B283-669285692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ABE4C-6CE4-453E-9B25-3E7EA4473CAF}" type="datetime1">
              <a:rPr lang="fr-FR" smtClean="0"/>
              <a:t>24/06/2025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2ABCA9E-AFC4-4D24-8115-52311EDEA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DC6C535-A5EE-4609-BEED-F42043E4B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54B72-9C63-4F24-BB69-DA53AAEBB3A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7321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4D2BA82-330B-44BD-B9A1-C8B0047E6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3A2C3-3F17-4DDD-A69A-DDC22A526DAE}" type="datetime1">
              <a:rPr lang="fr-FR" smtClean="0"/>
              <a:t>24/06/2025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D8B2EBC-20C2-4A69-B79B-7C820168D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5F00A6C-5420-4724-9C29-18F0EF838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54B72-9C63-4F24-BB69-DA53AAEBB3A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03979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826708-AD23-44CE-9B72-BE4DA7FF9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5D0EC10-866A-441B-BA0E-BBF7AAAABD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7DF9956-E2F1-4FDC-B556-EB6377FA4A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D473F98-8B8B-407B-BBD5-84F491B80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C551B-696E-40D0-97DC-724AAE99975B}" type="datetime1">
              <a:rPr lang="fr-FR" smtClean="0"/>
              <a:t>24/06/2025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CDC3BE3-3BE8-4F52-B0B1-33C997012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D9FEA66-5901-45F2-A893-3706CA0CD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54B72-9C63-4F24-BB69-DA53AAEBB3A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6028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8608AE-93CD-4D26-908C-8B1665BC6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9E67EBC-4532-4E2D-805B-F21E272AEA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C0253F8-E424-4CFD-8A74-AB7A9DEB5A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071CA34-7877-4107-986E-0AB1DCB70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B53D3-A72F-481A-BF38-906047DB8964}" type="datetime1">
              <a:rPr lang="fr-FR" smtClean="0"/>
              <a:t>24/06/2025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C94F5F6-EF70-4698-9F4F-BB1878AD1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6A74EAB-0D94-4054-A882-D69964D84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54B72-9C63-4F24-BB69-DA53AAEBB3A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3185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D01FE8-962B-499C-93B5-FA4D54525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1099E92-4B1B-4E9D-926F-667D1AA795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B49428C-C347-4A50-8910-1C9250BCF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EC411-C938-4583-A1BF-8EFACB324E0E}" type="datetime1">
              <a:rPr lang="fr-FR" smtClean="0"/>
              <a:t>24/06/2025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358EA02-CC27-416D-8B25-350DC0B5A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0C552C0-138A-4554-A26C-9B0E79A1F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54B72-9C63-4F24-BB69-DA53AAEBB3A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3202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4B87C7D-27AA-4249-9DD4-EF99BBE0F2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42923C1-954F-4B61-91F6-824CF4FC97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319F9D2-03E2-41C9-9FD2-75885778F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3D12C-DD86-49A3-8A3A-55F89AA4F4CF}" type="datetime1">
              <a:rPr lang="fr-FR" smtClean="0"/>
              <a:t>24/06/2025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EEBDB2D-8585-4AD9-B4A3-86B19288C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DA63428-B10E-480F-8EB6-7CDEEC1D2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54B72-9C63-4F24-BB69-DA53AAEBB3A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0459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98000"/>
            <a:lum/>
          </a:blip>
          <a:srcRect/>
          <a:stretch>
            <a:fillRect l="-2000" t="80000" r="8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020A21C0-AEA9-4B03-9F06-ACC07CF6E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FEB8446-2979-4386-8358-80C17E790D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1CF5D3A-0188-4A26-BC2E-EDC24F5F20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3572B6-EC36-498C-B6E6-018E78468DEF}" type="datetime1">
              <a:rPr lang="fr-FR" smtClean="0"/>
              <a:t>24/06/2025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7B97040-6BD2-4759-9D08-CA7293FFA6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15F53F1-A736-4877-81F2-C1DD950360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154B72-9C63-4F24-BB69-DA53AAEBB3A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4916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emf"/><Relationship Id="rId5" Type="http://schemas.openxmlformats.org/officeDocument/2006/relationships/image" Target="../media/image9.png"/><Relationship Id="rId4" Type="http://schemas.openxmlformats.org/officeDocument/2006/relationships/image" Target="../media/image8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0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jpg"/><Relationship Id="rId5" Type="http://schemas.openxmlformats.org/officeDocument/2006/relationships/image" Target="../media/image1.png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2.png"/><Relationship Id="rId7" Type="http://schemas.openxmlformats.org/officeDocument/2006/relationships/image" Target="../media/image38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7912FA-F9B5-4AE4-A80E-E41AD996C3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Transport électrique dans les rubans HTS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2F2D38-7F9A-4CCC-95F2-39C07C9821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Johan </a:t>
            </a:r>
            <a:r>
              <a:rPr lang="fr-FR" dirty="0" err="1"/>
              <a:t>Graglia</a:t>
            </a:r>
            <a:endParaRPr lang="fr-FR" dirty="0"/>
          </a:p>
          <a:p>
            <a:r>
              <a:rPr lang="fr-FR" dirty="0"/>
              <a:t>Encadrant : Maxime Leroux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B61D96-3DED-4465-BD03-91F2B30EBDEB}"/>
              </a:ext>
            </a:extLst>
          </p:cNvPr>
          <p:cNvSpPr/>
          <p:nvPr/>
        </p:nvSpPr>
        <p:spPr>
          <a:xfrm>
            <a:off x="0" y="0"/>
            <a:ext cx="12192000" cy="42351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3A6068-251C-4982-8461-86E6FEEE7F89}"/>
              </a:ext>
            </a:extLst>
          </p:cNvPr>
          <p:cNvSpPr/>
          <p:nvPr/>
        </p:nvSpPr>
        <p:spPr>
          <a:xfrm>
            <a:off x="6096000" y="0"/>
            <a:ext cx="6096000" cy="423512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A7E166D-683E-44CC-9DD5-5E1653517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5650" y="19250"/>
            <a:ext cx="2743200" cy="365125"/>
          </a:xfrm>
        </p:spPr>
        <p:txBody>
          <a:bodyPr/>
          <a:lstStyle/>
          <a:p>
            <a:fld id="{D4154B72-9C63-4F24-BB69-DA53AAEBB3A5}" type="slidenum">
              <a:rPr lang="fr-FR" sz="2000" smtClean="0">
                <a:solidFill>
                  <a:schemeClr val="bg1"/>
                </a:solidFill>
              </a:rPr>
              <a:t>1</a:t>
            </a:fld>
            <a:endParaRPr lang="fr-FR" sz="2000" dirty="0">
              <a:solidFill>
                <a:schemeClr val="bg1"/>
              </a:solidFill>
            </a:endParaRPr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55F24D9D-D57A-491C-892F-B55139ED274B}"/>
              </a:ext>
            </a:extLst>
          </p:cNvPr>
          <p:cNvSpPr txBox="1">
            <a:spLocks/>
          </p:cNvSpPr>
          <p:nvPr/>
        </p:nvSpPr>
        <p:spPr>
          <a:xfrm>
            <a:off x="0" y="29512"/>
            <a:ext cx="6096000" cy="39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sz="2000" dirty="0">
                <a:solidFill>
                  <a:schemeClr val="bg1"/>
                </a:solidFill>
              </a:rPr>
              <a:t>					24/06/2025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AB0CC667-7FA4-4ADA-A8E3-3124B1B570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298913"/>
            <a:ext cx="1524000" cy="1528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392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5B61D96-3DED-4465-BD03-91F2B30EBDEB}"/>
              </a:ext>
            </a:extLst>
          </p:cNvPr>
          <p:cNvSpPr/>
          <p:nvPr/>
        </p:nvSpPr>
        <p:spPr>
          <a:xfrm>
            <a:off x="0" y="0"/>
            <a:ext cx="12192000" cy="42351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3A6068-251C-4982-8461-86E6FEEE7F89}"/>
              </a:ext>
            </a:extLst>
          </p:cNvPr>
          <p:cNvSpPr/>
          <p:nvPr/>
        </p:nvSpPr>
        <p:spPr>
          <a:xfrm>
            <a:off x="6096000" y="0"/>
            <a:ext cx="6096000" cy="423512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A7E166D-683E-44CC-9DD5-5E1653517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54B72-9C63-4F24-BB69-DA53AAEBB3A5}" type="slidenum">
              <a:rPr lang="fr-FR" sz="2000" smtClean="0">
                <a:solidFill>
                  <a:schemeClr val="bg1"/>
                </a:solidFill>
              </a:rPr>
              <a:t>2</a:t>
            </a:fld>
            <a:endParaRPr lang="fr-FR" sz="2000" dirty="0">
              <a:solidFill>
                <a:schemeClr val="bg1"/>
              </a:solidFill>
            </a:endParaRPr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55F24D9D-D57A-491C-892F-B55139ED274B}"/>
              </a:ext>
            </a:extLst>
          </p:cNvPr>
          <p:cNvSpPr txBox="1">
            <a:spLocks/>
          </p:cNvSpPr>
          <p:nvPr/>
        </p:nvSpPr>
        <p:spPr>
          <a:xfrm>
            <a:off x="0" y="29512"/>
            <a:ext cx="6096000" cy="39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sz="2000" dirty="0">
                <a:solidFill>
                  <a:schemeClr val="bg1"/>
                </a:solidFill>
              </a:rPr>
              <a:t>					 24/06/2025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AB0CC667-7FA4-4ADA-A8E3-3124B1B570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298913"/>
            <a:ext cx="1524000" cy="1528660"/>
          </a:xfrm>
          <a:prstGeom prst="rect">
            <a:avLst/>
          </a:prstGeom>
        </p:spPr>
      </p:pic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27D80CE0-EF57-427D-A0BE-D3D0D93718A2}"/>
              </a:ext>
            </a:extLst>
          </p:cNvPr>
          <p:cNvSpPr txBox="1">
            <a:spLocks/>
          </p:cNvSpPr>
          <p:nvPr/>
        </p:nvSpPr>
        <p:spPr>
          <a:xfrm>
            <a:off x="9315650" y="192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4154B72-9C63-4F24-BB69-DA53AAEBB3A5}" type="slidenum">
              <a:rPr lang="fr-FR" sz="2000" smtClean="0">
                <a:solidFill>
                  <a:schemeClr val="bg1"/>
                </a:solidFill>
              </a:rPr>
              <a:pPr/>
              <a:t>2</a:t>
            </a:fld>
            <a:endParaRPr lang="fr-FR" sz="2000" dirty="0">
              <a:solidFill>
                <a:schemeClr val="bg1"/>
              </a:solidFill>
            </a:endParaRPr>
          </a:p>
        </p:txBody>
      </p:sp>
      <p:sp>
        <p:nvSpPr>
          <p:cNvPr id="18" name="Titre 7">
            <a:extLst>
              <a:ext uri="{FF2B5EF4-FFF2-40B4-BE49-F238E27FC236}">
                <a16:creationId xmlns:a16="http://schemas.microsoft.com/office/drawing/2014/main" id="{B92A464D-E494-41FD-913D-F3DBEBCF044A}"/>
              </a:ext>
            </a:extLst>
          </p:cNvPr>
          <p:cNvSpPr txBox="1">
            <a:spLocks/>
          </p:cNvSpPr>
          <p:nvPr/>
        </p:nvSpPr>
        <p:spPr>
          <a:xfrm>
            <a:off x="1243262" y="9433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b="1" dirty="0"/>
              <a:t>Supraconductivité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960A57EC-CC17-4954-AF5D-A27E7B7529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00261"/>
            <a:ext cx="3250816" cy="2287300"/>
          </a:xfrm>
          <a:prstGeom prst="rect">
            <a:avLst/>
          </a:prstGeom>
        </p:spPr>
      </p:pic>
      <p:sp>
        <p:nvSpPr>
          <p:cNvPr id="25" name="Espace réservé du contenu 10">
            <a:extLst>
              <a:ext uri="{FF2B5EF4-FFF2-40B4-BE49-F238E27FC236}">
                <a16:creationId xmlns:a16="http://schemas.microsoft.com/office/drawing/2014/main" id="{21136860-9C07-43DF-9EF0-AF175A68FEB5}"/>
              </a:ext>
            </a:extLst>
          </p:cNvPr>
          <p:cNvSpPr txBox="1">
            <a:spLocks/>
          </p:cNvSpPr>
          <p:nvPr/>
        </p:nvSpPr>
        <p:spPr>
          <a:xfrm>
            <a:off x="299988" y="3178471"/>
            <a:ext cx="1224013" cy="250529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600" b="1" i="0" dirty="0">
                <a:solidFill>
                  <a:srgbClr val="1D3D5D"/>
                </a:solidFill>
                <a:effectLst/>
                <a:latin typeface="Crimson Pro"/>
              </a:rPr>
              <a:t>©</a:t>
            </a:r>
            <a:r>
              <a:rPr lang="fr-FR" sz="1100" b="1" i="0" dirty="0">
                <a:solidFill>
                  <a:srgbClr val="1D3D5D"/>
                </a:solidFill>
                <a:effectLst/>
                <a:latin typeface="Crimson Pro"/>
              </a:rPr>
              <a:t>  </a:t>
            </a:r>
            <a:r>
              <a:rPr lang="fr-FR" sz="1600" dirty="0"/>
              <a:t>ENS Lyon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6D4CA8C1-F3BC-4BCD-8209-D3B2B1EE91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1680" y="529819"/>
            <a:ext cx="4980317" cy="3157521"/>
          </a:xfrm>
          <a:prstGeom prst="rect">
            <a:avLst/>
          </a:prstGeom>
        </p:spPr>
      </p:pic>
      <p:sp>
        <p:nvSpPr>
          <p:cNvPr id="21" name="Espace réservé du contenu 10">
            <a:extLst>
              <a:ext uri="{FF2B5EF4-FFF2-40B4-BE49-F238E27FC236}">
                <a16:creationId xmlns:a16="http://schemas.microsoft.com/office/drawing/2014/main" id="{5EDC20D8-D158-4DFF-AB4B-B52AFD490546}"/>
              </a:ext>
            </a:extLst>
          </p:cNvPr>
          <p:cNvSpPr txBox="1">
            <a:spLocks/>
          </p:cNvSpPr>
          <p:nvPr/>
        </p:nvSpPr>
        <p:spPr>
          <a:xfrm>
            <a:off x="1026626" y="3623590"/>
            <a:ext cx="11758862" cy="38532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BCS: 2 électrons liés par e</a:t>
            </a:r>
            <a:r>
              <a:rPr lang="fr-FR" baseline="30000" dirty="0"/>
              <a:t>-</a:t>
            </a:r>
            <a:r>
              <a:rPr lang="fr-FR" dirty="0"/>
              <a:t> - phonon</a:t>
            </a:r>
          </a:p>
          <a:p>
            <a:endParaRPr lang="fr-FR" dirty="0"/>
          </a:p>
          <a:p>
            <a:r>
              <a:rPr lang="fr-FR" dirty="0"/>
              <a:t>Etat quantique cohérent macroscopique </a:t>
            </a:r>
            <a:r>
              <a:rPr lang="fr-FR" dirty="0">
                <a:sym typeface="Wingdings" panose="05000000000000000000" pitchFamily="2" charset="2"/>
              </a:rPr>
              <a:t> pas de diffusion sur les défauts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FR" dirty="0">
                <a:sym typeface="Wingdings" panose="05000000000000000000" pitchFamily="2" charset="2"/>
              </a:rPr>
              <a:t>				  		         Résistance nulle</a:t>
            </a:r>
          </a:p>
          <a:p>
            <a:pPr marL="0" indent="0">
              <a:buNone/>
            </a:pPr>
            <a:endParaRPr lang="fr-FR" dirty="0">
              <a:sym typeface="Wingdings" panose="05000000000000000000" pitchFamily="2" charset="2"/>
            </a:endParaRPr>
          </a:p>
          <a:p>
            <a:r>
              <a:rPr lang="fr-FR" dirty="0">
                <a:sym typeface="Wingdings" panose="05000000000000000000" pitchFamily="2" charset="2"/>
              </a:rPr>
              <a:t>Supra et champ magnétique: type I, type II</a:t>
            </a:r>
          </a:p>
          <a:p>
            <a:pPr marL="0" indent="0">
              <a:buNone/>
            </a:pPr>
            <a:endParaRPr lang="fr-FR" dirty="0">
              <a:sym typeface="Wingdings" panose="05000000000000000000" pitchFamily="2" charset="2"/>
            </a:endParaRPr>
          </a:p>
          <a:p>
            <a:endParaRPr lang="fr-FR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13" name="Espace réservé du contenu 10">
            <a:extLst>
              <a:ext uri="{FF2B5EF4-FFF2-40B4-BE49-F238E27FC236}">
                <a16:creationId xmlns:a16="http://schemas.microsoft.com/office/drawing/2014/main" id="{ACA21765-7CE6-44D5-9076-8AE90500ED79}"/>
              </a:ext>
            </a:extLst>
          </p:cNvPr>
          <p:cNvSpPr txBox="1">
            <a:spLocks/>
          </p:cNvSpPr>
          <p:nvPr/>
        </p:nvSpPr>
        <p:spPr>
          <a:xfrm>
            <a:off x="8348596" y="3303735"/>
            <a:ext cx="2426486" cy="5336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400" b="1" i="0" dirty="0">
                <a:solidFill>
                  <a:srgbClr val="1D3D5D"/>
                </a:solidFill>
                <a:effectLst/>
                <a:latin typeface="Crimson Pro"/>
              </a:rPr>
              <a:t>©  </a:t>
            </a:r>
            <a:r>
              <a:rPr lang="fr-FR" sz="1400" dirty="0"/>
              <a:t>F. Bouquet and J. </a:t>
            </a:r>
            <a:r>
              <a:rPr lang="fr-FR" sz="1400" dirty="0" err="1"/>
              <a:t>Bobroff</a:t>
            </a:r>
            <a:endParaRPr lang="fr-FR" sz="1400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35DBEC15-9ABD-4724-85E8-60D7E04857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2426" y="648821"/>
            <a:ext cx="285765" cy="209561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2DDD86E0-A3C0-4E93-A5D8-6F663C2889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4398" y="977383"/>
            <a:ext cx="528028" cy="352018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7F620B48-7BAA-4D81-9D78-64540950C5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78532" y="1964071"/>
            <a:ext cx="611842" cy="35201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47E2F7F-7964-4B4B-B0E1-7FCA7EA5C675}"/>
              </a:ext>
            </a:extLst>
          </p:cNvPr>
          <p:cNvSpPr/>
          <p:nvPr/>
        </p:nvSpPr>
        <p:spPr>
          <a:xfrm>
            <a:off x="9079234" y="2016497"/>
            <a:ext cx="11338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>
                <a:sym typeface="Wingdings" panose="05000000000000000000" pitchFamily="2" charset="2"/>
              </a:rPr>
              <a:t>État mixte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913E0A9-C31E-482A-B105-42BDDB451737}"/>
              </a:ext>
            </a:extLst>
          </p:cNvPr>
          <p:cNvSpPr/>
          <p:nvPr/>
        </p:nvSpPr>
        <p:spPr>
          <a:xfrm>
            <a:off x="8610600" y="2784362"/>
            <a:ext cx="15291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>
                <a:sym typeface="Wingdings" panose="05000000000000000000" pitchFamily="2" charset="2"/>
              </a:rPr>
              <a:t>Effet Meissner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F67DF2F-917B-4E0F-8E4C-949913C04698}"/>
              </a:ext>
            </a:extLst>
          </p:cNvPr>
          <p:cNvSpPr/>
          <p:nvPr/>
        </p:nvSpPr>
        <p:spPr>
          <a:xfrm>
            <a:off x="10370305" y="1892039"/>
            <a:ext cx="12782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>
                <a:sym typeface="Wingdings" panose="05000000000000000000" pitchFamily="2" charset="2"/>
              </a:rPr>
              <a:t>État normal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0606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5B61D96-3DED-4465-BD03-91F2B30EBDEB}"/>
              </a:ext>
            </a:extLst>
          </p:cNvPr>
          <p:cNvSpPr/>
          <p:nvPr/>
        </p:nvSpPr>
        <p:spPr>
          <a:xfrm>
            <a:off x="0" y="0"/>
            <a:ext cx="12192000" cy="42351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3A6068-251C-4982-8461-86E6FEEE7F89}"/>
              </a:ext>
            </a:extLst>
          </p:cNvPr>
          <p:cNvSpPr/>
          <p:nvPr/>
        </p:nvSpPr>
        <p:spPr>
          <a:xfrm>
            <a:off x="6096000" y="0"/>
            <a:ext cx="6096000" cy="423512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55F24D9D-D57A-491C-892F-B55139ED274B}"/>
              </a:ext>
            </a:extLst>
          </p:cNvPr>
          <p:cNvSpPr txBox="1">
            <a:spLocks/>
          </p:cNvSpPr>
          <p:nvPr/>
        </p:nvSpPr>
        <p:spPr>
          <a:xfrm>
            <a:off x="0" y="29512"/>
            <a:ext cx="6096000" cy="39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sz="2000" dirty="0">
                <a:solidFill>
                  <a:schemeClr val="bg1"/>
                </a:solidFill>
              </a:rPr>
              <a:t>					 24/06/2025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AB0CC667-7FA4-4ADA-A8E3-3124B1B570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298913"/>
            <a:ext cx="1524000" cy="1528660"/>
          </a:xfrm>
          <a:prstGeom prst="rect">
            <a:avLst/>
          </a:prstGeom>
        </p:spPr>
      </p:pic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27D80CE0-EF57-427D-A0BE-D3D0D93718A2}"/>
              </a:ext>
            </a:extLst>
          </p:cNvPr>
          <p:cNvSpPr txBox="1">
            <a:spLocks/>
          </p:cNvSpPr>
          <p:nvPr/>
        </p:nvSpPr>
        <p:spPr>
          <a:xfrm>
            <a:off x="9315650" y="192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4154B72-9C63-4F24-BB69-DA53AAEBB3A5}" type="slidenum">
              <a:rPr lang="fr-FR" sz="2000" smtClean="0">
                <a:solidFill>
                  <a:schemeClr val="bg1"/>
                </a:solidFill>
              </a:rPr>
              <a:pPr/>
              <a:t>3</a:t>
            </a:fld>
            <a:endParaRPr lang="fr-FR" sz="2000" dirty="0">
              <a:solidFill>
                <a:schemeClr val="bg1"/>
              </a:solidFill>
            </a:endParaRPr>
          </a:p>
        </p:txBody>
      </p:sp>
      <p:sp>
        <p:nvSpPr>
          <p:cNvPr id="18" name="Titre 7">
            <a:extLst>
              <a:ext uri="{FF2B5EF4-FFF2-40B4-BE49-F238E27FC236}">
                <a16:creationId xmlns:a16="http://schemas.microsoft.com/office/drawing/2014/main" id="{B92A464D-E494-41FD-913D-F3DBEBCF044A}"/>
              </a:ext>
            </a:extLst>
          </p:cNvPr>
          <p:cNvSpPr txBox="1">
            <a:spLocks/>
          </p:cNvSpPr>
          <p:nvPr/>
        </p:nvSpPr>
        <p:spPr>
          <a:xfrm>
            <a:off x="1243262" y="15008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b="1" dirty="0"/>
              <a:t>Physique des vortex</a:t>
            </a: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92548B5D-3ECD-46DD-A8A6-D81BF3BF23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7727" y="1346172"/>
            <a:ext cx="1794253" cy="481385"/>
          </a:xfrm>
          <a:prstGeom prst="rect">
            <a:avLst/>
          </a:prstGeom>
        </p:spPr>
      </p:pic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D24BF916-FE00-46D6-AF1D-BD67B79817C4}"/>
              </a:ext>
            </a:extLst>
          </p:cNvPr>
          <p:cNvCxnSpPr>
            <a:cxnSpLocks/>
          </p:cNvCxnSpPr>
          <p:nvPr/>
        </p:nvCxnSpPr>
        <p:spPr>
          <a:xfrm flipH="1">
            <a:off x="7461297" y="1179502"/>
            <a:ext cx="164338" cy="2624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Espace réservé du contenu 10">
            <a:extLst>
              <a:ext uri="{FF2B5EF4-FFF2-40B4-BE49-F238E27FC236}">
                <a16:creationId xmlns:a16="http://schemas.microsoft.com/office/drawing/2014/main" id="{F8F07AD5-8ADD-4F57-81C9-08D3335C5130}"/>
              </a:ext>
            </a:extLst>
          </p:cNvPr>
          <p:cNvSpPr txBox="1">
            <a:spLocks/>
          </p:cNvSpPr>
          <p:nvPr/>
        </p:nvSpPr>
        <p:spPr>
          <a:xfrm>
            <a:off x="6286549" y="432196"/>
            <a:ext cx="11758862" cy="51858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2000" dirty="0"/>
              <a:t>Vecteur orienté selon le flux </a:t>
            </a:r>
            <a:r>
              <a:rPr lang="fr-FR" sz="2000" dirty="0" err="1"/>
              <a:t>mag</a:t>
            </a:r>
            <a:r>
              <a:rPr lang="fr-FR" sz="2000" dirty="0"/>
              <a:t>. </a:t>
            </a:r>
          </a:p>
          <a:p>
            <a:pPr marL="0" indent="0">
              <a:buNone/>
            </a:pPr>
            <a:r>
              <a:rPr lang="fr-FR" sz="2000" dirty="0"/>
              <a:t>Transporté par le vortex</a:t>
            </a:r>
          </a:p>
        </p:txBody>
      </p:sp>
      <p:grpSp>
        <p:nvGrpSpPr>
          <p:cNvPr id="21" name="Group 3">
            <a:extLst>
              <a:ext uri="{FF2B5EF4-FFF2-40B4-BE49-F238E27FC236}">
                <a16:creationId xmlns:a16="http://schemas.microsoft.com/office/drawing/2014/main" id="{4BE605E6-F8CE-4C82-9093-9DF972ABBB49}"/>
              </a:ext>
            </a:extLst>
          </p:cNvPr>
          <p:cNvGrpSpPr/>
          <p:nvPr/>
        </p:nvGrpSpPr>
        <p:grpSpPr>
          <a:xfrm>
            <a:off x="4327716" y="3944953"/>
            <a:ext cx="3771900" cy="1661815"/>
            <a:chOff x="228600" y="786824"/>
            <a:chExt cx="5029200" cy="2215753"/>
          </a:xfrm>
        </p:grpSpPr>
        <p:sp>
          <p:nvSpPr>
            <p:cNvPr id="22" name="TextBox 70">
              <a:extLst>
                <a:ext uri="{FF2B5EF4-FFF2-40B4-BE49-F238E27FC236}">
                  <a16:creationId xmlns:a16="http://schemas.microsoft.com/office/drawing/2014/main" id="{69609A42-657E-4AA4-B826-161C0AF11148}"/>
                </a:ext>
              </a:extLst>
            </p:cNvPr>
            <p:cNvSpPr txBox="1"/>
            <p:nvPr/>
          </p:nvSpPr>
          <p:spPr>
            <a:xfrm>
              <a:off x="4724400" y="2387024"/>
              <a:ext cx="383011" cy="615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>
                  <a:solidFill>
                    <a:srgbClr val="151515"/>
                  </a:solidFill>
                </a:rPr>
                <a:t>J</a:t>
              </a:r>
            </a:p>
          </p:txBody>
        </p:sp>
        <p:grpSp>
          <p:nvGrpSpPr>
            <p:cNvPr id="23" name="Group 69">
              <a:extLst>
                <a:ext uri="{FF2B5EF4-FFF2-40B4-BE49-F238E27FC236}">
                  <a16:creationId xmlns:a16="http://schemas.microsoft.com/office/drawing/2014/main" id="{8BCF5849-25B7-4EC4-8DCB-5968139B1988}"/>
                </a:ext>
              </a:extLst>
            </p:cNvPr>
            <p:cNvGrpSpPr/>
            <p:nvPr/>
          </p:nvGrpSpPr>
          <p:grpSpPr>
            <a:xfrm>
              <a:off x="228600" y="1057947"/>
              <a:ext cx="5029200" cy="1786277"/>
              <a:chOff x="990600" y="1642723"/>
              <a:chExt cx="6553200" cy="2036261"/>
            </a:xfrm>
          </p:grpSpPr>
          <p:sp>
            <p:nvSpPr>
              <p:cNvPr id="27" name="Freeform 63">
                <a:extLst>
                  <a:ext uri="{FF2B5EF4-FFF2-40B4-BE49-F238E27FC236}">
                    <a16:creationId xmlns:a16="http://schemas.microsoft.com/office/drawing/2014/main" id="{1A6524AE-3B44-4B7C-AAD3-0928C1439188}"/>
                  </a:ext>
                </a:extLst>
              </p:cNvPr>
              <p:cNvSpPr/>
              <p:nvPr/>
            </p:nvSpPr>
            <p:spPr>
              <a:xfrm>
                <a:off x="1676400" y="2743200"/>
                <a:ext cx="56663" cy="574843"/>
              </a:xfrm>
              <a:custGeom>
                <a:avLst/>
                <a:gdLst>
                  <a:gd name="connsiteX0" fmla="*/ 56663 w 56663"/>
                  <a:gd name="connsiteY0" fmla="*/ 0 h 574843"/>
                  <a:gd name="connsiteX1" fmla="*/ 29926 w 56663"/>
                  <a:gd name="connsiteY1" fmla="*/ 227264 h 574843"/>
                  <a:gd name="connsiteX2" fmla="*/ 3189 w 56663"/>
                  <a:gd name="connsiteY2" fmla="*/ 294106 h 574843"/>
                  <a:gd name="connsiteX3" fmla="*/ 3189 w 56663"/>
                  <a:gd name="connsiteY3" fmla="*/ 574843 h 574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6663" h="574843">
                    <a:moveTo>
                      <a:pt x="56663" y="0"/>
                    </a:moveTo>
                    <a:cubicBezTo>
                      <a:pt x="52259" y="52850"/>
                      <a:pt x="49222" y="162944"/>
                      <a:pt x="29926" y="227264"/>
                    </a:cubicBezTo>
                    <a:cubicBezTo>
                      <a:pt x="23031" y="250249"/>
                      <a:pt x="5029" y="270180"/>
                      <a:pt x="3189" y="294106"/>
                    </a:cubicBezTo>
                    <a:cubicBezTo>
                      <a:pt x="-3988" y="387409"/>
                      <a:pt x="3189" y="481264"/>
                      <a:pt x="3189" y="574843"/>
                    </a:cubicBezTo>
                  </a:path>
                </a:pathLst>
              </a:custGeom>
              <a:ln w="76200" cmpd="sng">
                <a:solidFill>
                  <a:srgbClr val="FF0000"/>
                </a:solidFill>
              </a:ln>
            </p:spPr>
            <p:txBody>
              <a:bodyPr vert="horz" wrap="square" lIns="68580" tIns="34290" rIns="68580" bIns="34290" numCol="1" rtlCol="0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350">
                  <a:latin typeface="Calibri" pitchFamily="34" charset="0"/>
                </a:endParaRPr>
              </a:p>
            </p:txBody>
          </p:sp>
          <p:sp>
            <p:nvSpPr>
              <p:cNvPr id="28" name="Freeform 59">
                <a:extLst>
                  <a:ext uri="{FF2B5EF4-FFF2-40B4-BE49-F238E27FC236}">
                    <a16:creationId xmlns:a16="http://schemas.microsoft.com/office/drawing/2014/main" id="{57AB1F57-D71C-4C3A-8F14-71E7B4B92556}"/>
                  </a:ext>
                </a:extLst>
              </p:cNvPr>
              <p:cNvSpPr/>
              <p:nvPr/>
            </p:nvSpPr>
            <p:spPr>
              <a:xfrm>
                <a:off x="2362200" y="2819400"/>
                <a:ext cx="56663" cy="574843"/>
              </a:xfrm>
              <a:custGeom>
                <a:avLst/>
                <a:gdLst>
                  <a:gd name="connsiteX0" fmla="*/ 56663 w 56663"/>
                  <a:gd name="connsiteY0" fmla="*/ 0 h 574843"/>
                  <a:gd name="connsiteX1" fmla="*/ 29926 w 56663"/>
                  <a:gd name="connsiteY1" fmla="*/ 227264 h 574843"/>
                  <a:gd name="connsiteX2" fmla="*/ 3189 w 56663"/>
                  <a:gd name="connsiteY2" fmla="*/ 294106 h 574843"/>
                  <a:gd name="connsiteX3" fmla="*/ 3189 w 56663"/>
                  <a:gd name="connsiteY3" fmla="*/ 574843 h 574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6663" h="574843">
                    <a:moveTo>
                      <a:pt x="56663" y="0"/>
                    </a:moveTo>
                    <a:cubicBezTo>
                      <a:pt x="52259" y="52850"/>
                      <a:pt x="49222" y="162944"/>
                      <a:pt x="29926" y="227264"/>
                    </a:cubicBezTo>
                    <a:cubicBezTo>
                      <a:pt x="23031" y="250249"/>
                      <a:pt x="5029" y="270180"/>
                      <a:pt x="3189" y="294106"/>
                    </a:cubicBezTo>
                    <a:cubicBezTo>
                      <a:pt x="-3988" y="387409"/>
                      <a:pt x="3189" y="481264"/>
                      <a:pt x="3189" y="574843"/>
                    </a:cubicBezTo>
                  </a:path>
                </a:pathLst>
              </a:custGeom>
              <a:ln w="76200" cmpd="sng">
                <a:solidFill>
                  <a:srgbClr val="FF0000"/>
                </a:solidFill>
              </a:ln>
            </p:spPr>
            <p:txBody>
              <a:bodyPr vert="horz" wrap="square" lIns="68580" tIns="34290" rIns="68580" bIns="34290" numCol="1" rtlCol="0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350">
                  <a:latin typeface="Calibri" pitchFamily="34" charset="0"/>
                </a:endParaRPr>
              </a:p>
            </p:txBody>
          </p:sp>
          <p:sp>
            <p:nvSpPr>
              <p:cNvPr id="29" name="Freeform 60">
                <a:extLst>
                  <a:ext uri="{FF2B5EF4-FFF2-40B4-BE49-F238E27FC236}">
                    <a16:creationId xmlns:a16="http://schemas.microsoft.com/office/drawing/2014/main" id="{EBB65CDE-DE6D-4A09-9082-B203E788318D}"/>
                  </a:ext>
                </a:extLst>
              </p:cNvPr>
              <p:cNvSpPr/>
              <p:nvPr/>
            </p:nvSpPr>
            <p:spPr>
              <a:xfrm>
                <a:off x="3048000" y="2895600"/>
                <a:ext cx="56663" cy="574843"/>
              </a:xfrm>
              <a:custGeom>
                <a:avLst/>
                <a:gdLst>
                  <a:gd name="connsiteX0" fmla="*/ 56663 w 56663"/>
                  <a:gd name="connsiteY0" fmla="*/ 0 h 574843"/>
                  <a:gd name="connsiteX1" fmla="*/ 29926 w 56663"/>
                  <a:gd name="connsiteY1" fmla="*/ 227264 h 574843"/>
                  <a:gd name="connsiteX2" fmla="*/ 3189 w 56663"/>
                  <a:gd name="connsiteY2" fmla="*/ 294106 h 574843"/>
                  <a:gd name="connsiteX3" fmla="*/ 3189 w 56663"/>
                  <a:gd name="connsiteY3" fmla="*/ 574843 h 574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6663" h="574843">
                    <a:moveTo>
                      <a:pt x="56663" y="0"/>
                    </a:moveTo>
                    <a:cubicBezTo>
                      <a:pt x="52259" y="52850"/>
                      <a:pt x="49222" y="162944"/>
                      <a:pt x="29926" y="227264"/>
                    </a:cubicBezTo>
                    <a:cubicBezTo>
                      <a:pt x="23031" y="250249"/>
                      <a:pt x="5029" y="270180"/>
                      <a:pt x="3189" y="294106"/>
                    </a:cubicBezTo>
                    <a:cubicBezTo>
                      <a:pt x="-3988" y="387409"/>
                      <a:pt x="3189" y="481264"/>
                      <a:pt x="3189" y="574843"/>
                    </a:cubicBezTo>
                  </a:path>
                </a:pathLst>
              </a:custGeom>
              <a:ln w="76200" cmpd="sng">
                <a:solidFill>
                  <a:srgbClr val="FF0000"/>
                </a:solidFill>
              </a:ln>
            </p:spPr>
            <p:txBody>
              <a:bodyPr vert="horz" wrap="square" lIns="68580" tIns="34290" rIns="68580" bIns="34290" numCol="1" rtlCol="0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350">
                  <a:latin typeface="Calibri" pitchFamily="34" charset="0"/>
                </a:endParaRPr>
              </a:p>
            </p:txBody>
          </p:sp>
          <p:sp>
            <p:nvSpPr>
              <p:cNvPr id="30" name="Freeform 55">
                <a:extLst>
                  <a:ext uri="{FF2B5EF4-FFF2-40B4-BE49-F238E27FC236}">
                    <a16:creationId xmlns:a16="http://schemas.microsoft.com/office/drawing/2014/main" id="{3FAC91B5-19C3-47CC-9C7A-1A76308BFACF}"/>
                  </a:ext>
                </a:extLst>
              </p:cNvPr>
              <p:cNvSpPr/>
              <p:nvPr/>
            </p:nvSpPr>
            <p:spPr>
              <a:xfrm>
                <a:off x="4876800" y="2819400"/>
                <a:ext cx="56663" cy="574843"/>
              </a:xfrm>
              <a:custGeom>
                <a:avLst/>
                <a:gdLst>
                  <a:gd name="connsiteX0" fmla="*/ 56663 w 56663"/>
                  <a:gd name="connsiteY0" fmla="*/ 0 h 574843"/>
                  <a:gd name="connsiteX1" fmla="*/ 29926 w 56663"/>
                  <a:gd name="connsiteY1" fmla="*/ 227264 h 574843"/>
                  <a:gd name="connsiteX2" fmla="*/ 3189 w 56663"/>
                  <a:gd name="connsiteY2" fmla="*/ 294106 h 574843"/>
                  <a:gd name="connsiteX3" fmla="*/ 3189 w 56663"/>
                  <a:gd name="connsiteY3" fmla="*/ 574843 h 574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6663" h="574843">
                    <a:moveTo>
                      <a:pt x="56663" y="0"/>
                    </a:moveTo>
                    <a:cubicBezTo>
                      <a:pt x="52259" y="52850"/>
                      <a:pt x="49222" y="162944"/>
                      <a:pt x="29926" y="227264"/>
                    </a:cubicBezTo>
                    <a:cubicBezTo>
                      <a:pt x="23031" y="250249"/>
                      <a:pt x="5029" y="270180"/>
                      <a:pt x="3189" y="294106"/>
                    </a:cubicBezTo>
                    <a:cubicBezTo>
                      <a:pt x="-3988" y="387409"/>
                      <a:pt x="3189" y="481264"/>
                      <a:pt x="3189" y="574843"/>
                    </a:cubicBezTo>
                  </a:path>
                </a:pathLst>
              </a:custGeom>
              <a:ln w="76200" cmpd="sng">
                <a:solidFill>
                  <a:srgbClr val="FF0000"/>
                </a:solidFill>
              </a:ln>
            </p:spPr>
            <p:txBody>
              <a:bodyPr vert="horz" wrap="square" lIns="68580" tIns="34290" rIns="68580" bIns="34290" numCol="1" rtlCol="0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350">
                  <a:latin typeface="Calibri" pitchFamily="34" charset="0"/>
                </a:endParaRP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A66469E6-5752-40F9-A59D-10C2338B7030}"/>
                  </a:ext>
                </a:extLst>
              </p:cNvPr>
              <p:cNvSpPr/>
              <p:nvPr/>
            </p:nvSpPr>
            <p:spPr bwMode="auto">
              <a:xfrm>
                <a:off x="1670453" y="1642723"/>
                <a:ext cx="1855563" cy="271123"/>
              </a:xfrm>
              <a:prstGeom prst="rect">
                <a:avLst/>
              </a:prstGeom>
              <a:solidFill>
                <a:srgbClr val="FFFFFF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68580" tIns="34290" rIns="68580" bIns="34290" numCol="1" rtlCol="0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350">
                  <a:latin typeface="Calibri" pitchFamily="34" charset="0"/>
                </a:endParaRP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13005F8B-920E-4CD3-8951-0FEFF2BDDF1C}"/>
                  </a:ext>
                </a:extLst>
              </p:cNvPr>
              <p:cNvSpPr/>
              <p:nvPr/>
            </p:nvSpPr>
            <p:spPr bwMode="auto">
              <a:xfrm>
                <a:off x="2027292" y="1846064"/>
                <a:ext cx="285471" cy="338903"/>
              </a:xfrm>
              <a:prstGeom prst="rect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68580" tIns="34290" rIns="68580" bIns="34290" numCol="1" rtlCol="0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350">
                  <a:latin typeface="Calibri" pitchFamily="34" charset="0"/>
                </a:endParaRPr>
              </a:p>
            </p:txBody>
          </p:sp>
          <p:grpSp>
            <p:nvGrpSpPr>
              <p:cNvPr id="34" name="Group 51">
                <a:extLst>
                  <a:ext uri="{FF2B5EF4-FFF2-40B4-BE49-F238E27FC236}">
                    <a16:creationId xmlns:a16="http://schemas.microsoft.com/office/drawing/2014/main" id="{3654FA57-F9F5-4C55-8891-D2674D9026BB}"/>
                  </a:ext>
                </a:extLst>
              </p:cNvPr>
              <p:cNvGrpSpPr/>
              <p:nvPr/>
            </p:nvGrpSpPr>
            <p:grpSpPr>
              <a:xfrm>
                <a:off x="5486400" y="2743200"/>
                <a:ext cx="2057400" cy="828841"/>
                <a:chOff x="6324600" y="2743200"/>
                <a:chExt cx="2057400" cy="828841"/>
              </a:xfrm>
            </p:grpSpPr>
            <p:pic>
              <p:nvPicPr>
                <p:cNvPr id="59" name="Picture 6">
                  <a:extLst>
                    <a:ext uri="{FF2B5EF4-FFF2-40B4-BE49-F238E27FC236}">
                      <a16:creationId xmlns:a16="http://schemas.microsoft.com/office/drawing/2014/main" id="{26BAE41D-B869-4CF3-9D74-CD2D5A36AF3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"/>
                <a:srcRect l="71966" t="44707" b="22736"/>
                <a:stretch/>
              </p:blipFill>
              <p:spPr>
                <a:xfrm>
                  <a:off x="6331284" y="2769936"/>
                  <a:ext cx="2050716" cy="802105"/>
                </a:xfrm>
                <a:prstGeom prst="rect">
                  <a:avLst/>
                </a:prstGeom>
              </p:spPr>
            </p:pic>
            <p:sp>
              <p:nvSpPr>
                <p:cNvPr id="60" name="Rectangle 59">
                  <a:extLst>
                    <a:ext uri="{FF2B5EF4-FFF2-40B4-BE49-F238E27FC236}">
                      <a16:creationId xmlns:a16="http://schemas.microsoft.com/office/drawing/2014/main" id="{F5CF0D36-22BA-4496-BD63-1930AF7CB99F}"/>
                    </a:ext>
                  </a:extLst>
                </p:cNvPr>
                <p:cNvSpPr/>
                <p:nvPr/>
              </p:nvSpPr>
              <p:spPr bwMode="auto">
                <a:xfrm>
                  <a:off x="6324600" y="2743200"/>
                  <a:ext cx="914400" cy="2286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68580" tIns="34290" rIns="68580" bIns="3429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350">
                    <a:latin typeface="Calibri" pitchFamily="34" charset="0"/>
                  </a:endParaRPr>
                </a:p>
              </p:txBody>
            </p:sp>
            <p:sp>
              <p:nvSpPr>
                <p:cNvPr id="61" name="Rectangle 60">
                  <a:extLst>
                    <a:ext uri="{FF2B5EF4-FFF2-40B4-BE49-F238E27FC236}">
                      <a16:creationId xmlns:a16="http://schemas.microsoft.com/office/drawing/2014/main" id="{CE527D5A-A34B-463F-93A4-018919AEB25A}"/>
                    </a:ext>
                  </a:extLst>
                </p:cNvPr>
                <p:cNvSpPr/>
                <p:nvPr/>
              </p:nvSpPr>
              <p:spPr bwMode="auto">
                <a:xfrm>
                  <a:off x="6337968" y="2846136"/>
                  <a:ext cx="152400" cy="533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68580" tIns="34290" rIns="68580" bIns="3429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350">
                    <a:latin typeface="Calibri" pitchFamily="34" charset="0"/>
                  </a:endParaRPr>
                </a:p>
              </p:txBody>
            </p:sp>
            <p:sp>
              <p:nvSpPr>
                <p:cNvPr id="62" name="Freeform 22">
                  <a:extLst>
                    <a:ext uri="{FF2B5EF4-FFF2-40B4-BE49-F238E27FC236}">
                      <a16:creationId xmlns:a16="http://schemas.microsoft.com/office/drawing/2014/main" id="{E362825F-EEA9-480C-8C30-524624310319}"/>
                    </a:ext>
                  </a:extLst>
                </p:cNvPr>
                <p:cNvSpPr/>
                <p:nvPr/>
              </p:nvSpPr>
              <p:spPr>
                <a:xfrm>
                  <a:off x="6400800" y="2934369"/>
                  <a:ext cx="381000" cy="418431"/>
                </a:xfrm>
                <a:custGeom>
                  <a:avLst/>
                  <a:gdLst>
                    <a:gd name="connsiteX0" fmla="*/ 481263 w 481263"/>
                    <a:gd name="connsiteY0" fmla="*/ 0 h 360948"/>
                    <a:gd name="connsiteX1" fmla="*/ 0 w 481263"/>
                    <a:gd name="connsiteY1" fmla="*/ 360948 h 360948"/>
                    <a:gd name="connsiteX2" fmla="*/ 0 w 481263"/>
                    <a:gd name="connsiteY2" fmla="*/ 13369 h 360948"/>
                    <a:gd name="connsiteX3" fmla="*/ 481263 w 481263"/>
                    <a:gd name="connsiteY3" fmla="*/ 0 h 360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81263" h="360948">
                      <a:moveTo>
                        <a:pt x="481263" y="0"/>
                      </a:moveTo>
                      <a:lnTo>
                        <a:pt x="0" y="360948"/>
                      </a:lnTo>
                      <a:lnTo>
                        <a:pt x="0" y="13369"/>
                      </a:lnTo>
                      <a:lnTo>
                        <a:pt x="481263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</p:spPr>
              <p:txBody>
                <a:bodyPr vert="horz" wrap="square" lIns="68580" tIns="34290" rIns="68580" bIns="3429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350">
                    <a:latin typeface="Calibri" pitchFamily="34" charset="0"/>
                  </a:endParaRPr>
                </a:p>
              </p:txBody>
            </p:sp>
          </p:grp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357746C7-7426-44FD-B897-52335EB4A29A}"/>
                  </a:ext>
                </a:extLst>
              </p:cNvPr>
              <p:cNvSpPr/>
              <p:nvPr/>
            </p:nvSpPr>
            <p:spPr bwMode="auto">
              <a:xfrm>
                <a:off x="990600" y="3048000"/>
                <a:ext cx="4267200" cy="609600"/>
              </a:xfrm>
              <a:prstGeom prst="rect">
                <a:avLst/>
              </a:prstGeom>
              <a:noFill/>
              <a:ln w="9525" cap="flat" cmpd="sng" algn="ctr">
                <a:solidFill>
                  <a:schemeClr val="bg2">
                    <a:lumMod val="1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68580" tIns="34290" rIns="68580" bIns="34290" numCol="1" rtlCol="0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350">
                  <a:latin typeface="Calibri" pitchFamily="34" charset="0"/>
                </a:endParaRPr>
              </a:p>
            </p:txBody>
          </p:sp>
          <p:cxnSp>
            <p:nvCxnSpPr>
              <p:cNvPr id="36" name="Straight Connector 37">
                <a:extLst>
                  <a:ext uri="{FF2B5EF4-FFF2-40B4-BE49-F238E27FC236}">
                    <a16:creationId xmlns:a16="http://schemas.microsoft.com/office/drawing/2014/main" id="{EE62500F-4257-4509-BB88-6DBD13A35994}"/>
                  </a:ext>
                </a:extLst>
              </p:cNvPr>
              <p:cNvCxnSpPr/>
              <p:nvPr/>
            </p:nvCxnSpPr>
            <p:spPr bwMode="auto">
              <a:xfrm flipV="1">
                <a:off x="990600" y="2057400"/>
                <a:ext cx="914400" cy="990600"/>
              </a:xfrm>
              <a:prstGeom prst="line">
                <a:avLst/>
              </a:prstGeom>
              <a:noFill/>
              <a:ln w="28575" cap="flat" cmpd="sng" algn="ctr">
                <a:solidFill>
                  <a:srgbClr val="151515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7" name="Straight Connector 38">
                <a:extLst>
                  <a:ext uri="{FF2B5EF4-FFF2-40B4-BE49-F238E27FC236}">
                    <a16:creationId xmlns:a16="http://schemas.microsoft.com/office/drawing/2014/main" id="{844F65C5-653D-46D6-A733-8420465F6753}"/>
                  </a:ext>
                </a:extLst>
              </p:cNvPr>
              <p:cNvCxnSpPr/>
              <p:nvPr/>
            </p:nvCxnSpPr>
            <p:spPr bwMode="auto">
              <a:xfrm flipV="1">
                <a:off x="5257800" y="2057400"/>
                <a:ext cx="914400" cy="990600"/>
              </a:xfrm>
              <a:prstGeom prst="line">
                <a:avLst/>
              </a:prstGeom>
              <a:noFill/>
              <a:ln w="28575" cap="flat" cmpd="sng" algn="ctr">
                <a:solidFill>
                  <a:srgbClr val="151515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9" name="Straight Connector 41">
                <a:extLst>
                  <a:ext uri="{FF2B5EF4-FFF2-40B4-BE49-F238E27FC236}">
                    <a16:creationId xmlns:a16="http://schemas.microsoft.com/office/drawing/2014/main" id="{18A0BBB9-1B40-4B38-91A7-723F9AAE20CB}"/>
                  </a:ext>
                </a:extLst>
              </p:cNvPr>
              <p:cNvCxnSpPr/>
              <p:nvPr/>
            </p:nvCxnSpPr>
            <p:spPr bwMode="auto">
              <a:xfrm>
                <a:off x="990600" y="3657600"/>
                <a:ext cx="4267200" cy="0"/>
              </a:xfrm>
              <a:prstGeom prst="line">
                <a:avLst/>
              </a:prstGeom>
              <a:noFill/>
              <a:ln w="28575" cap="flat" cmpd="sng" algn="ctr">
                <a:solidFill>
                  <a:srgbClr val="151515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0" name="Straight Connector 42">
                <a:extLst>
                  <a:ext uri="{FF2B5EF4-FFF2-40B4-BE49-F238E27FC236}">
                    <a16:creationId xmlns:a16="http://schemas.microsoft.com/office/drawing/2014/main" id="{A4656035-43CE-475A-ADEA-FC2F2553B8E9}"/>
                  </a:ext>
                </a:extLst>
              </p:cNvPr>
              <p:cNvCxnSpPr/>
              <p:nvPr/>
            </p:nvCxnSpPr>
            <p:spPr bwMode="auto">
              <a:xfrm>
                <a:off x="1905000" y="2057400"/>
                <a:ext cx="4267200" cy="0"/>
              </a:xfrm>
              <a:prstGeom prst="line">
                <a:avLst/>
              </a:prstGeom>
              <a:noFill/>
              <a:ln w="28575" cap="flat" cmpd="sng" algn="ctr">
                <a:solidFill>
                  <a:srgbClr val="151515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1" name="Straight Connector 43">
                <a:extLst>
                  <a:ext uri="{FF2B5EF4-FFF2-40B4-BE49-F238E27FC236}">
                    <a16:creationId xmlns:a16="http://schemas.microsoft.com/office/drawing/2014/main" id="{7F822193-FD35-4BCF-8A43-050C2A20635A}"/>
                  </a:ext>
                </a:extLst>
              </p:cNvPr>
              <p:cNvCxnSpPr/>
              <p:nvPr/>
            </p:nvCxnSpPr>
            <p:spPr bwMode="auto">
              <a:xfrm>
                <a:off x="1905000" y="2707104"/>
                <a:ext cx="4267200" cy="0"/>
              </a:xfrm>
              <a:prstGeom prst="line">
                <a:avLst/>
              </a:prstGeom>
              <a:noFill/>
              <a:ln w="28575" cap="flat" cmpd="sng" algn="ctr">
                <a:solidFill>
                  <a:srgbClr val="151515"/>
                </a:solidFill>
                <a:prstDash val="sysDash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54" name="Freeform 64">
                <a:extLst>
                  <a:ext uri="{FF2B5EF4-FFF2-40B4-BE49-F238E27FC236}">
                    <a16:creationId xmlns:a16="http://schemas.microsoft.com/office/drawing/2014/main" id="{E1B65CD4-819F-4C4F-BD91-B3173072C4E4}"/>
                  </a:ext>
                </a:extLst>
              </p:cNvPr>
              <p:cNvSpPr/>
              <p:nvPr/>
            </p:nvSpPr>
            <p:spPr>
              <a:xfrm>
                <a:off x="4114800" y="2209800"/>
                <a:ext cx="56663" cy="574843"/>
              </a:xfrm>
              <a:custGeom>
                <a:avLst/>
                <a:gdLst>
                  <a:gd name="connsiteX0" fmla="*/ 56663 w 56663"/>
                  <a:gd name="connsiteY0" fmla="*/ 0 h 574843"/>
                  <a:gd name="connsiteX1" fmla="*/ 29926 w 56663"/>
                  <a:gd name="connsiteY1" fmla="*/ 227264 h 574843"/>
                  <a:gd name="connsiteX2" fmla="*/ 3189 w 56663"/>
                  <a:gd name="connsiteY2" fmla="*/ 294106 h 574843"/>
                  <a:gd name="connsiteX3" fmla="*/ 3189 w 56663"/>
                  <a:gd name="connsiteY3" fmla="*/ 574843 h 574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6663" h="574843">
                    <a:moveTo>
                      <a:pt x="56663" y="0"/>
                    </a:moveTo>
                    <a:cubicBezTo>
                      <a:pt x="52259" y="52850"/>
                      <a:pt x="49222" y="162944"/>
                      <a:pt x="29926" y="227264"/>
                    </a:cubicBezTo>
                    <a:cubicBezTo>
                      <a:pt x="23031" y="250249"/>
                      <a:pt x="5029" y="270180"/>
                      <a:pt x="3189" y="294106"/>
                    </a:cubicBezTo>
                    <a:cubicBezTo>
                      <a:pt x="-3988" y="387409"/>
                      <a:pt x="3189" y="481264"/>
                      <a:pt x="3189" y="574843"/>
                    </a:cubicBezTo>
                  </a:path>
                </a:pathLst>
              </a:custGeom>
              <a:ln w="76200" cmpd="sng">
                <a:solidFill>
                  <a:srgbClr val="FF0000"/>
                </a:solidFill>
              </a:ln>
            </p:spPr>
            <p:txBody>
              <a:bodyPr vert="horz" wrap="square" lIns="68580" tIns="34290" rIns="68580" bIns="34290" numCol="1" rtlCol="0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350">
                  <a:latin typeface="Calibri" pitchFamily="34" charset="0"/>
                </a:endParaRPr>
              </a:p>
            </p:txBody>
          </p:sp>
          <p:cxnSp>
            <p:nvCxnSpPr>
              <p:cNvPr id="42" name="Straight Connector 45">
                <a:extLst>
                  <a:ext uri="{FF2B5EF4-FFF2-40B4-BE49-F238E27FC236}">
                    <a16:creationId xmlns:a16="http://schemas.microsoft.com/office/drawing/2014/main" id="{7F4DFF4B-AC85-4887-B45F-5EC18F5D17EB}"/>
                  </a:ext>
                </a:extLst>
              </p:cNvPr>
              <p:cNvCxnSpPr/>
              <p:nvPr/>
            </p:nvCxnSpPr>
            <p:spPr bwMode="auto">
              <a:xfrm>
                <a:off x="990600" y="3048000"/>
                <a:ext cx="0" cy="609600"/>
              </a:xfrm>
              <a:prstGeom prst="line">
                <a:avLst/>
              </a:prstGeom>
              <a:noFill/>
              <a:ln w="28575" cap="flat" cmpd="sng" algn="ctr">
                <a:solidFill>
                  <a:srgbClr val="151515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58" name="Oval 68">
                <a:extLst>
                  <a:ext uri="{FF2B5EF4-FFF2-40B4-BE49-F238E27FC236}">
                    <a16:creationId xmlns:a16="http://schemas.microsoft.com/office/drawing/2014/main" id="{80D55231-3B9D-4A7D-A170-3A118CF10168}"/>
                  </a:ext>
                </a:extLst>
              </p:cNvPr>
              <p:cNvSpPr/>
              <p:nvPr/>
            </p:nvSpPr>
            <p:spPr bwMode="auto">
              <a:xfrm rot="300000">
                <a:off x="3974667" y="2689665"/>
                <a:ext cx="533400" cy="304800"/>
              </a:xfrm>
              <a:prstGeom prst="ellipse">
                <a:avLst/>
              </a:prstGeom>
              <a:solidFill>
                <a:srgbClr val="00B050"/>
              </a:solidFill>
              <a:ln w="9525" cap="flat" cmpd="sng" algn="ctr">
                <a:solidFill>
                  <a:srgbClr val="008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68580" tIns="34290" rIns="68580" bIns="34290" numCol="1" rtlCol="0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350">
                  <a:latin typeface="Calibri" pitchFamily="34" charset="0"/>
                </a:endParaRPr>
              </a:p>
            </p:txBody>
          </p:sp>
          <p:cxnSp>
            <p:nvCxnSpPr>
              <p:cNvPr id="43" name="Straight Connector 46">
                <a:extLst>
                  <a:ext uri="{FF2B5EF4-FFF2-40B4-BE49-F238E27FC236}">
                    <a16:creationId xmlns:a16="http://schemas.microsoft.com/office/drawing/2014/main" id="{D4E5E4AC-98FA-470E-A3B0-1683D63FED50}"/>
                  </a:ext>
                </a:extLst>
              </p:cNvPr>
              <p:cNvCxnSpPr/>
              <p:nvPr/>
            </p:nvCxnSpPr>
            <p:spPr bwMode="auto">
              <a:xfrm>
                <a:off x="5257800" y="3048000"/>
                <a:ext cx="0" cy="609600"/>
              </a:xfrm>
              <a:prstGeom prst="line">
                <a:avLst/>
              </a:prstGeom>
              <a:noFill/>
              <a:ln w="28575" cap="flat" cmpd="sng" algn="ctr">
                <a:solidFill>
                  <a:srgbClr val="151515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4" name="Straight Connector 47">
                <a:extLst>
                  <a:ext uri="{FF2B5EF4-FFF2-40B4-BE49-F238E27FC236}">
                    <a16:creationId xmlns:a16="http://schemas.microsoft.com/office/drawing/2014/main" id="{D70ACAB3-87EE-45A9-8546-20595E592778}"/>
                  </a:ext>
                </a:extLst>
              </p:cNvPr>
              <p:cNvCxnSpPr/>
              <p:nvPr/>
            </p:nvCxnSpPr>
            <p:spPr bwMode="auto">
              <a:xfrm>
                <a:off x="6172200" y="2057400"/>
                <a:ext cx="0" cy="609600"/>
              </a:xfrm>
              <a:prstGeom prst="line">
                <a:avLst/>
              </a:prstGeom>
              <a:noFill/>
              <a:ln w="28575" cap="flat" cmpd="sng" algn="ctr">
                <a:solidFill>
                  <a:srgbClr val="151515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5" name="Straight Connector 48">
                <a:extLst>
                  <a:ext uri="{FF2B5EF4-FFF2-40B4-BE49-F238E27FC236}">
                    <a16:creationId xmlns:a16="http://schemas.microsoft.com/office/drawing/2014/main" id="{91788094-C916-4060-9D8D-0A1237DBA0C2}"/>
                  </a:ext>
                </a:extLst>
              </p:cNvPr>
              <p:cNvCxnSpPr/>
              <p:nvPr/>
            </p:nvCxnSpPr>
            <p:spPr bwMode="auto">
              <a:xfrm>
                <a:off x="1905000" y="2057400"/>
                <a:ext cx="0" cy="609600"/>
              </a:xfrm>
              <a:prstGeom prst="line">
                <a:avLst/>
              </a:prstGeom>
              <a:noFill/>
              <a:ln w="28575" cap="flat" cmpd="sng" algn="ctr">
                <a:solidFill>
                  <a:srgbClr val="151515"/>
                </a:solidFill>
                <a:prstDash val="sysDash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6" name="Straight Connector 49">
                <a:extLst>
                  <a:ext uri="{FF2B5EF4-FFF2-40B4-BE49-F238E27FC236}">
                    <a16:creationId xmlns:a16="http://schemas.microsoft.com/office/drawing/2014/main" id="{1E89AD2F-7517-493F-ACC9-CDE1AA7DCD61}"/>
                  </a:ext>
                </a:extLst>
              </p:cNvPr>
              <p:cNvCxnSpPr/>
              <p:nvPr/>
            </p:nvCxnSpPr>
            <p:spPr bwMode="auto">
              <a:xfrm flipV="1">
                <a:off x="5257800" y="2688384"/>
                <a:ext cx="914400" cy="990600"/>
              </a:xfrm>
              <a:prstGeom prst="line">
                <a:avLst/>
              </a:prstGeom>
              <a:noFill/>
              <a:ln w="28575" cap="flat" cmpd="sng" algn="ctr">
                <a:solidFill>
                  <a:srgbClr val="151515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7" name="Straight Connector 50">
                <a:extLst>
                  <a:ext uri="{FF2B5EF4-FFF2-40B4-BE49-F238E27FC236}">
                    <a16:creationId xmlns:a16="http://schemas.microsoft.com/office/drawing/2014/main" id="{308911DC-057C-4112-8BFA-C783B90ED2A0}"/>
                  </a:ext>
                </a:extLst>
              </p:cNvPr>
              <p:cNvCxnSpPr/>
              <p:nvPr/>
            </p:nvCxnSpPr>
            <p:spPr bwMode="auto">
              <a:xfrm flipV="1">
                <a:off x="990600" y="2667000"/>
                <a:ext cx="914400" cy="990600"/>
              </a:xfrm>
              <a:prstGeom prst="line">
                <a:avLst/>
              </a:prstGeom>
              <a:noFill/>
              <a:ln w="28575" cap="flat" cmpd="sng" algn="ctr">
                <a:solidFill>
                  <a:srgbClr val="151515"/>
                </a:solidFill>
                <a:prstDash val="sysDash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52B44EC2-95F0-4510-B0FC-66AE9E108026}"/>
                  </a:ext>
                </a:extLst>
              </p:cNvPr>
              <p:cNvSpPr/>
              <p:nvPr/>
            </p:nvSpPr>
            <p:spPr bwMode="auto">
              <a:xfrm>
                <a:off x="5410200" y="2882232"/>
                <a:ext cx="152400" cy="457200"/>
              </a:xfrm>
              <a:prstGeom prst="rect">
                <a:avLst/>
              </a:prstGeom>
              <a:solidFill>
                <a:srgbClr val="FFFFFF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68580" tIns="34290" rIns="68580" bIns="34290" numCol="1" rtlCol="0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350">
                  <a:latin typeface="Calibri" pitchFamily="34" charset="0"/>
                </a:endParaRPr>
              </a:p>
            </p:txBody>
          </p:sp>
          <p:sp>
            <p:nvSpPr>
              <p:cNvPr id="49" name="Freeform 54">
                <a:extLst>
                  <a:ext uri="{FF2B5EF4-FFF2-40B4-BE49-F238E27FC236}">
                    <a16:creationId xmlns:a16="http://schemas.microsoft.com/office/drawing/2014/main" id="{89A253F7-0BDF-430E-8E30-0F98591C2C10}"/>
                  </a:ext>
                </a:extLst>
              </p:cNvPr>
              <p:cNvSpPr/>
              <p:nvPr/>
            </p:nvSpPr>
            <p:spPr>
              <a:xfrm>
                <a:off x="2133600" y="2286000"/>
                <a:ext cx="56663" cy="574843"/>
              </a:xfrm>
              <a:custGeom>
                <a:avLst/>
                <a:gdLst>
                  <a:gd name="connsiteX0" fmla="*/ 56663 w 56663"/>
                  <a:gd name="connsiteY0" fmla="*/ 0 h 574843"/>
                  <a:gd name="connsiteX1" fmla="*/ 29926 w 56663"/>
                  <a:gd name="connsiteY1" fmla="*/ 227264 h 574843"/>
                  <a:gd name="connsiteX2" fmla="*/ 3189 w 56663"/>
                  <a:gd name="connsiteY2" fmla="*/ 294106 h 574843"/>
                  <a:gd name="connsiteX3" fmla="*/ 3189 w 56663"/>
                  <a:gd name="connsiteY3" fmla="*/ 574843 h 574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6663" h="574843">
                    <a:moveTo>
                      <a:pt x="56663" y="0"/>
                    </a:moveTo>
                    <a:cubicBezTo>
                      <a:pt x="52259" y="52850"/>
                      <a:pt x="49222" y="162944"/>
                      <a:pt x="29926" y="227264"/>
                    </a:cubicBezTo>
                    <a:cubicBezTo>
                      <a:pt x="23031" y="250249"/>
                      <a:pt x="5029" y="270180"/>
                      <a:pt x="3189" y="294106"/>
                    </a:cubicBezTo>
                    <a:cubicBezTo>
                      <a:pt x="-3988" y="387409"/>
                      <a:pt x="3189" y="481264"/>
                      <a:pt x="3189" y="574843"/>
                    </a:cubicBezTo>
                  </a:path>
                </a:pathLst>
              </a:custGeom>
              <a:ln w="76200" cmpd="sng">
                <a:solidFill>
                  <a:srgbClr val="FF0000"/>
                </a:solidFill>
              </a:ln>
            </p:spPr>
            <p:txBody>
              <a:bodyPr vert="horz" wrap="square" lIns="68580" tIns="34290" rIns="68580" bIns="34290" numCol="1" rtlCol="0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350">
                  <a:latin typeface="Calibri" pitchFamily="34" charset="0"/>
                </a:endParaRPr>
              </a:p>
            </p:txBody>
          </p:sp>
          <p:sp>
            <p:nvSpPr>
              <p:cNvPr id="50" name="Freeform 57">
                <a:extLst>
                  <a:ext uri="{FF2B5EF4-FFF2-40B4-BE49-F238E27FC236}">
                    <a16:creationId xmlns:a16="http://schemas.microsoft.com/office/drawing/2014/main" id="{A90FC9D2-19BA-42AE-9EED-20210BB22992}"/>
                  </a:ext>
                </a:extLst>
              </p:cNvPr>
              <p:cNvSpPr/>
              <p:nvPr/>
            </p:nvSpPr>
            <p:spPr>
              <a:xfrm>
                <a:off x="3733800" y="2438400"/>
                <a:ext cx="56663" cy="574843"/>
              </a:xfrm>
              <a:custGeom>
                <a:avLst/>
                <a:gdLst>
                  <a:gd name="connsiteX0" fmla="*/ 56663 w 56663"/>
                  <a:gd name="connsiteY0" fmla="*/ 0 h 574843"/>
                  <a:gd name="connsiteX1" fmla="*/ 29926 w 56663"/>
                  <a:gd name="connsiteY1" fmla="*/ 227264 h 574843"/>
                  <a:gd name="connsiteX2" fmla="*/ 3189 w 56663"/>
                  <a:gd name="connsiteY2" fmla="*/ 294106 h 574843"/>
                  <a:gd name="connsiteX3" fmla="*/ 3189 w 56663"/>
                  <a:gd name="connsiteY3" fmla="*/ 574843 h 574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6663" h="574843">
                    <a:moveTo>
                      <a:pt x="56663" y="0"/>
                    </a:moveTo>
                    <a:cubicBezTo>
                      <a:pt x="52259" y="52850"/>
                      <a:pt x="49222" y="162944"/>
                      <a:pt x="29926" y="227264"/>
                    </a:cubicBezTo>
                    <a:cubicBezTo>
                      <a:pt x="23031" y="250249"/>
                      <a:pt x="5029" y="270180"/>
                      <a:pt x="3189" y="294106"/>
                    </a:cubicBezTo>
                    <a:cubicBezTo>
                      <a:pt x="-3988" y="387409"/>
                      <a:pt x="3189" y="481264"/>
                      <a:pt x="3189" y="574843"/>
                    </a:cubicBezTo>
                  </a:path>
                </a:pathLst>
              </a:custGeom>
              <a:ln w="76200" cmpd="sng">
                <a:solidFill>
                  <a:srgbClr val="FF0000"/>
                </a:solidFill>
              </a:ln>
            </p:spPr>
            <p:txBody>
              <a:bodyPr vert="horz" wrap="square" lIns="68580" tIns="34290" rIns="68580" bIns="34290" numCol="1" rtlCol="0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350">
                  <a:latin typeface="Calibri" pitchFamily="34" charset="0"/>
                </a:endParaRPr>
              </a:p>
            </p:txBody>
          </p:sp>
          <p:sp>
            <p:nvSpPr>
              <p:cNvPr id="51" name="Freeform 58">
                <a:extLst>
                  <a:ext uri="{FF2B5EF4-FFF2-40B4-BE49-F238E27FC236}">
                    <a16:creationId xmlns:a16="http://schemas.microsoft.com/office/drawing/2014/main" id="{215B24A1-45AC-42B8-AAF5-CF20DBB94A4F}"/>
                  </a:ext>
                </a:extLst>
              </p:cNvPr>
              <p:cNvSpPr/>
              <p:nvPr/>
            </p:nvSpPr>
            <p:spPr>
              <a:xfrm>
                <a:off x="4648200" y="2362200"/>
                <a:ext cx="45719" cy="574843"/>
              </a:xfrm>
              <a:custGeom>
                <a:avLst/>
                <a:gdLst>
                  <a:gd name="connsiteX0" fmla="*/ 56663 w 56663"/>
                  <a:gd name="connsiteY0" fmla="*/ 0 h 574843"/>
                  <a:gd name="connsiteX1" fmla="*/ 29926 w 56663"/>
                  <a:gd name="connsiteY1" fmla="*/ 227264 h 574843"/>
                  <a:gd name="connsiteX2" fmla="*/ 3189 w 56663"/>
                  <a:gd name="connsiteY2" fmla="*/ 294106 h 574843"/>
                  <a:gd name="connsiteX3" fmla="*/ 3189 w 56663"/>
                  <a:gd name="connsiteY3" fmla="*/ 574843 h 574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6663" h="574843">
                    <a:moveTo>
                      <a:pt x="56663" y="0"/>
                    </a:moveTo>
                    <a:cubicBezTo>
                      <a:pt x="52259" y="52850"/>
                      <a:pt x="49222" y="162944"/>
                      <a:pt x="29926" y="227264"/>
                    </a:cubicBezTo>
                    <a:cubicBezTo>
                      <a:pt x="23031" y="250249"/>
                      <a:pt x="5029" y="270180"/>
                      <a:pt x="3189" y="294106"/>
                    </a:cubicBezTo>
                    <a:cubicBezTo>
                      <a:pt x="-3988" y="387409"/>
                      <a:pt x="3189" y="481264"/>
                      <a:pt x="3189" y="574843"/>
                    </a:cubicBezTo>
                  </a:path>
                </a:pathLst>
              </a:custGeom>
              <a:ln w="76200" cmpd="sng">
                <a:solidFill>
                  <a:srgbClr val="FF0000"/>
                </a:solidFill>
              </a:ln>
            </p:spPr>
            <p:txBody>
              <a:bodyPr vert="horz" wrap="square" lIns="68580" tIns="34290" rIns="68580" bIns="34290" numCol="1" rtlCol="0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350">
                  <a:latin typeface="Calibri" pitchFamily="34" charset="0"/>
                </a:endParaRPr>
              </a:p>
            </p:txBody>
          </p:sp>
          <p:sp>
            <p:nvSpPr>
              <p:cNvPr id="52" name="Freeform 61">
                <a:extLst>
                  <a:ext uri="{FF2B5EF4-FFF2-40B4-BE49-F238E27FC236}">
                    <a16:creationId xmlns:a16="http://schemas.microsoft.com/office/drawing/2014/main" id="{9ADB508F-EB84-44FF-A166-B35B961EC3B2}"/>
                  </a:ext>
                </a:extLst>
              </p:cNvPr>
              <p:cNvSpPr/>
              <p:nvPr/>
            </p:nvSpPr>
            <p:spPr>
              <a:xfrm>
                <a:off x="2971800" y="2286000"/>
                <a:ext cx="56663" cy="574843"/>
              </a:xfrm>
              <a:custGeom>
                <a:avLst/>
                <a:gdLst>
                  <a:gd name="connsiteX0" fmla="*/ 56663 w 56663"/>
                  <a:gd name="connsiteY0" fmla="*/ 0 h 574843"/>
                  <a:gd name="connsiteX1" fmla="*/ 29926 w 56663"/>
                  <a:gd name="connsiteY1" fmla="*/ 227264 h 574843"/>
                  <a:gd name="connsiteX2" fmla="*/ 3189 w 56663"/>
                  <a:gd name="connsiteY2" fmla="*/ 294106 h 574843"/>
                  <a:gd name="connsiteX3" fmla="*/ 3189 w 56663"/>
                  <a:gd name="connsiteY3" fmla="*/ 574843 h 574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6663" h="574843">
                    <a:moveTo>
                      <a:pt x="56663" y="0"/>
                    </a:moveTo>
                    <a:cubicBezTo>
                      <a:pt x="52259" y="52850"/>
                      <a:pt x="49222" y="162944"/>
                      <a:pt x="29926" y="227264"/>
                    </a:cubicBezTo>
                    <a:cubicBezTo>
                      <a:pt x="23031" y="250249"/>
                      <a:pt x="5029" y="270180"/>
                      <a:pt x="3189" y="294106"/>
                    </a:cubicBezTo>
                    <a:cubicBezTo>
                      <a:pt x="-3988" y="387409"/>
                      <a:pt x="3189" y="481264"/>
                      <a:pt x="3189" y="574843"/>
                    </a:cubicBezTo>
                  </a:path>
                </a:pathLst>
              </a:custGeom>
              <a:ln w="76200" cmpd="sng">
                <a:solidFill>
                  <a:srgbClr val="FF0000"/>
                </a:solidFill>
              </a:ln>
            </p:spPr>
            <p:txBody>
              <a:bodyPr vert="horz" wrap="square" lIns="68580" tIns="34290" rIns="68580" bIns="34290" numCol="1" rtlCol="0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350">
                  <a:latin typeface="Calibri" pitchFamily="34" charset="0"/>
                </a:endParaRPr>
              </a:p>
            </p:txBody>
          </p:sp>
          <p:sp>
            <p:nvSpPr>
              <p:cNvPr id="53" name="Freeform 62">
                <a:extLst>
                  <a:ext uri="{FF2B5EF4-FFF2-40B4-BE49-F238E27FC236}">
                    <a16:creationId xmlns:a16="http://schemas.microsoft.com/office/drawing/2014/main" id="{EB8E61A9-C272-4F4B-9769-09DCFDAEBD1D}"/>
                  </a:ext>
                </a:extLst>
              </p:cNvPr>
              <p:cNvSpPr/>
              <p:nvPr/>
            </p:nvSpPr>
            <p:spPr>
              <a:xfrm>
                <a:off x="2305537" y="2438400"/>
                <a:ext cx="56663" cy="574843"/>
              </a:xfrm>
              <a:custGeom>
                <a:avLst/>
                <a:gdLst>
                  <a:gd name="connsiteX0" fmla="*/ 56663 w 56663"/>
                  <a:gd name="connsiteY0" fmla="*/ 0 h 574843"/>
                  <a:gd name="connsiteX1" fmla="*/ 29926 w 56663"/>
                  <a:gd name="connsiteY1" fmla="*/ 227264 h 574843"/>
                  <a:gd name="connsiteX2" fmla="*/ 3189 w 56663"/>
                  <a:gd name="connsiteY2" fmla="*/ 294106 h 574843"/>
                  <a:gd name="connsiteX3" fmla="*/ 3189 w 56663"/>
                  <a:gd name="connsiteY3" fmla="*/ 574843 h 574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6663" h="574843">
                    <a:moveTo>
                      <a:pt x="56663" y="0"/>
                    </a:moveTo>
                    <a:cubicBezTo>
                      <a:pt x="52259" y="52850"/>
                      <a:pt x="49222" y="162944"/>
                      <a:pt x="29926" y="227264"/>
                    </a:cubicBezTo>
                    <a:cubicBezTo>
                      <a:pt x="23031" y="250249"/>
                      <a:pt x="5029" y="270180"/>
                      <a:pt x="3189" y="294106"/>
                    </a:cubicBezTo>
                    <a:cubicBezTo>
                      <a:pt x="-3988" y="387409"/>
                      <a:pt x="3189" y="481264"/>
                      <a:pt x="3189" y="574843"/>
                    </a:cubicBezTo>
                  </a:path>
                </a:pathLst>
              </a:custGeom>
              <a:ln w="76200" cmpd="sng">
                <a:solidFill>
                  <a:srgbClr val="FF0000"/>
                </a:solidFill>
              </a:ln>
            </p:spPr>
            <p:txBody>
              <a:bodyPr vert="horz" wrap="square" lIns="68580" tIns="34290" rIns="68580" bIns="34290" numCol="1" rtlCol="0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350">
                  <a:latin typeface="Calibri" pitchFamily="34" charset="0"/>
                </a:endParaRPr>
              </a:p>
            </p:txBody>
          </p:sp>
          <p:sp>
            <p:nvSpPr>
              <p:cNvPr id="31" name="Freeform 56">
                <a:extLst>
                  <a:ext uri="{FF2B5EF4-FFF2-40B4-BE49-F238E27FC236}">
                    <a16:creationId xmlns:a16="http://schemas.microsoft.com/office/drawing/2014/main" id="{46BEFF02-44AA-4F16-A6CD-955D2421077B}"/>
                  </a:ext>
                </a:extLst>
              </p:cNvPr>
              <p:cNvSpPr/>
              <p:nvPr/>
            </p:nvSpPr>
            <p:spPr>
              <a:xfrm>
                <a:off x="4191000" y="2819400"/>
                <a:ext cx="56663" cy="574843"/>
              </a:xfrm>
              <a:custGeom>
                <a:avLst/>
                <a:gdLst>
                  <a:gd name="connsiteX0" fmla="*/ 56663 w 56663"/>
                  <a:gd name="connsiteY0" fmla="*/ 0 h 574843"/>
                  <a:gd name="connsiteX1" fmla="*/ 29926 w 56663"/>
                  <a:gd name="connsiteY1" fmla="*/ 227264 h 574843"/>
                  <a:gd name="connsiteX2" fmla="*/ 3189 w 56663"/>
                  <a:gd name="connsiteY2" fmla="*/ 294106 h 574843"/>
                  <a:gd name="connsiteX3" fmla="*/ 3189 w 56663"/>
                  <a:gd name="connsiteY3" fmla="*/ 574843 h 574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6663" h="574843">
                    <a:moveTo>
                      <a:pt x="56663" y="0"/>
                    </a:moveTo>
                    <a:cubicBezTo>
                      <a:pt x="52259" y="52850"/>
                      <a:pt x="49222" y="162944"/>
                      <a:pt x="29926" y="227264"/>
                    </a:cubicBezTo>
                    <a:cubicBezTo>
                      <a:pt x="23031" y="250249"/>
                      <a:pt x="5029" y="270180"/>
                      <a:pt x="3189" y="294106"/>
                    </a:cubicBezTo>
                    <a:cubicBezTo>
                      <a:pt x="-3988" y="387409"/>
                      <a:pt x="3189" y="481264"/>
                      <a:pt x="3189" y="574843"/>
                    </a:cubicBezTo>
                  </a:path>
                </a:pathLst>
              </a:custGeom>
              <a:ln w="76200" cmpd="sng">
                <a:solidFill>
                  <a:srgbClr val="FF0000"/>
                </a:solidFill>
              </a:ln>
            </p:spPr>
            <p:txBody>
              <a:bodyPr vert="horz" wrap="square" lIns="68580" tIns="34290" rIns="68580" bIns="34290" numCol="1" rtlCol="0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350">
                  <a:latin typeface="Calibri" pitchFamily="34" charset="0"/>
                </a:endParaRPr>
              </a:p>
            </p:txBody>
          </p:sp>
          <p:sp>
            <p:nvSpPr>
              <p:cNvPr id="55" name="Oval 65">
                <a:extLst>
                  <a:ext uri="{FF2B5EF4-FFF2-40B4-BE49-F238E27FC236}">
                    <a16:creationId xmlns:a16="http://schemas.microsoft.com/office/drawing/2014/main" id="{72C1F265-283E-4256-9A8B-1A5783587A05}"/>
                  </a:ext>
                </a:extLst>
              </p:cNvPr>
              <p:cNvSpPr/>
              <p:nvPr/>
            </p:nvSpPr>
            <p:spPr bwMode="auto">
              <a:xfrm rot="300000">
                <a:off x="4431868" y="2232465"/>
                <a:ext cx="533400" cy="304800"/>
              </a:xfrm>
              <a:prstGeom prst="ellipse">
                <a:avLst/>
              </a:prstGeom>
              <a:noFill/>
              <a:ln w="9525" cap="flat" cmpd="sng" algn="ctr">
                <a:solidFill>
                  <a:srgbClr val="008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68580" tIns="34290" rIns="68580" bIns="34290" numCol="1" rtlCol="0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350">
                  <a:latin typeface="Calibri" pitchFamily="34" charset="0"/>
                </a:endParaRPr>
              </a:p>
            </p:txBody>
          </p:sp>
          <p:sp>
            <p:nvSpPr>
              <p:cNvPr id="56" name="Oval 66">
                <a:extLst>
                  <a:ext uri="{FF2B5EF4-FFF2-40B4-BE49-F238E27FC236}">
                    <a16:creationId xmlns:a16="http://schemas.microsoft.com/office/drawing/2014/main" id="{BE3CB57C-9F14-46C3-8A3E-98590E48210A}"/>
                  </a:ext>
                </a:extLst>
              </p:cNvPr>
              <p:cNvSpPr/>
              <p:nvPr/>
            </p:nvSpPr>
            <p:spPr bwMode="auto">
              <a:xfrm rot="300000">
                <a:off x="4660468" y="2689665"/>
                <a:ext cx="533400" cy="304800"/>
              </a:xfrm>
              <a:prstGeom prst="ellipse">
                <a:avLst/>
              </a:prstGeom>
              <a:noFill/>
              <a:ln w="9525" cap="flat" cmpd="sng" algn="ctr">
                <a:solidFill>
                  <a:srgbClr val="008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68580" tIns="34290" rIns="68580" bIns="34290" numCol="1" rtlCol="0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350">
                  <a:latin typeface="Calibri" pitchFamily="34" charset="0"/>
                </a:endParaRPr>
              </a:p>
            </p:txBody>
          </p:sp>
          <p:sp>
            <p:nvSpPr>
              <p:cNvPr id="57" name="Oval 67">
                <a:extLst>
                  <a:ext uri="{FF2B5EF4-FFF2-40B4-BE49-F238E27FC236}">
                    <a16:creationId xmlns:a16="http://schemas.microsoft.com/office/drawing/2014/main" id="{0AED6900-4FB6-4E06-8A69-F31644DFD9A7}"/>
                  </a:ext>
                </a:extLst>
              </p:cNvPr>
              <p:cNvSpPr/>
              <p:nvPr/>
            </p:nvSpPr>
            <p:spPr bwMode="auto">
              <a:xfrm rot="300000">
                <a:off x="3898467" y="2080065"/>
                <a:ext cx="533400" cy="304800"/>
              </a:xfrm>
              <a:prstGeom prst="ellipse">
                <a:avLst/>
              </a:prstGeom>
              <a:noFill/>
              <a:ln w="9525" cap="flat" cmpd="sng" algn="ctr">
                <a:solidFill>
                  <a:srgbClr val="008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68580" tIns="34290" rIns="68580" bIns="34290" numCol="1" rtlCol="0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350">
                  <a:latin typeface="Calibri" pitchFamily="34" charset="0"/>
                </a:endParaRPr>
              </a:p>
            </p:txBody>
          </p:sp>
          <p:cxnSp>
            <p:nvCxnSpPr>
              <p:cNvPr id="38" name="Straight Connector 40">
                <a:extLst>
                  <a:ext uri="{FF2B5EF4-FFF2-40B4-BE49-F238E27FC236}">
                    <a16:creationId xmlns:a16="http://schemas.microsoft.com/office/drawing/2014/main" id="{371A4D0D-9D1F-4C2E-BEAA-089492CCBDEA}"/>
                  </a:ext>
                </a:extLst>
              </p:cNvPr>
              <p:cNvCxnSpPr/>
              <p:nvPr/>
            </p:nvCxnSpPr>
            <p:spPr bwMode="auto">
              <a:xfrm>
                <a:off x="990600" y="3048000"/>
                <a:ext cx="4267200" cy="0"/>
              </a:xfrm>
              <a:prstGeom prst="line">
                <a:avLst/>
              </a:prstGeom>
              <a:noFill/>
              <a:ln w="28575" cap="flat" cmpd="sng" algn="ctr">
                <a:solidFill>
                  <a:srgbClr val="151515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cxnSp>
          <p:nvCxnSpPr>
            <p:cNvPr id="26" name="Straight Arrow Connector 72">
              <a:extLst>
                <a:ext uri="{FF2B5EF4-FFF2-40B4-BE49-F238E27FC236}">
                  <a16:creationId xmlns:a16="http://schemas.microsoft.com/office/drawing/2014/main" id="{CA47AE4A-9936-45BF-98AE-09531736CAD4}"/>
                </a:ext>
              </a:extLst>
            </p:cNvPr>
            <p:cNvCxnSpPr/>
            <p:nvPr/>
          </p:nvCxnSpPr>
          <p:spPr bwMode="auto">
            <a:xfrm flipV="1">
              <a:off x="304800" y="786824"/>
              <a:ext cx="0" cy="1066800"/>
            </a:xfrm>
            <a:prstGeom prst="straightConnector1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cxnSp>
        <p:nvCxnSpPr>
          <p:cNvPr id="63" name="Straight Connector 15">
            <a:extLst>
              <a:ext uri="{FF2B5EF4-FFF2-40B4-BE49-F238E27FC236}">
                <a16:creationId xmlns:a16="http://schemas.microsoft.com/office/drawing/2014/main" id="{E9C4D5C1-912C-45A6-86AC-E482A233EC7F}"/>
              </a:ext>
            </a:extLst>
          </p:cNvPr>
          <p:cNvCxnSpPr/>
          <p:nvPr/>
        </p:nvCxnSpPr>
        <p:spPr bwMode="auto">
          <a:xfrm>
            <a:off x="5186355" y="3991520"/>
            <a:ext cx="10925" cy="336260"/>
          </a:xfrm>
          <a:prstGeom prst="line">
            <a:avLst/>
          </a:prstGeom>
          <a:noFill/>
          <a:ln w="9525" cap="flat" cmpd="sng" algn="ctr">
            <a:solidFill>
              <a:srgbClr val="151515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4" name="Straight Connector 98">
            <a:extLst>
              <a:ext uri="{FF2B5EF4-FFF2-40B4-BE49-F238E27FC236}">
                <a16:creationId xmlns:a16="http://schemas.microsoft.com/office/drawing/2014/main" id="{B84AF410-5446-48DF-B8FA-8516F1AB9863}"/>
              </a:ext>
            </a:extLst>
          </p:cNvPr>
          <p:cNvCxnSpPr/>
          <p:nvPr/>
        </p:nvCxnSpPr>
        <p:spPr bwMode="auto">
          <a:xfrm>
            <a:off x="6661330" y="3984880"/>
            <a:ext cx="10925" cy="336260"/>
          </a:xfrm>
          <a:prstGeom prst="line">
            <a:avLst/>
          </a:prstGeom>
          <a:noFill/>
          <a:ln w="9525" cap="flat" cmpd="sng" algn="ctr">
            <a:solidFill>
              <a:srgbClr val="151515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5" name="TextBox 21">
            <a:extLst>
              <a:ext uri="{FF2B5EF4-FFF2-40B4-BE49-F238E27FC236}">
                <a16:creationId xmlns:a16="http://schemas.microsoft.com/office/drawing/2014/main" id="{393F8F17-888A-4C0C-B24F-8891AF42F437}"/>
              </a:ext>
            </a:extLst>
          </p:cNvPr>
          <p:cNvSpPr txBox="1"/>
          <p:nvPr/>
        </p:nvSpPr>
        <p:spPr>
          <a:xfrm>
            <a:off x="5820518" y="3756280"/>
            <a:ext cx="31611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i="1" dirty="0">
                <a:solidFill>
                  <a:srgbClr val="151515"/>
                </a:solidFill>
              </a:rPr>
              <a:t>E</a:t>
            </a:r>
          </a:p>
        </p:txBody>
      </p:sp>
      <p:cxnSp>
        <p:nvCxnSpPr>
          <p:cNvPr id="66" name="Straight Arrow Connector 24">
            <a:extLst>
              <a:ext uri="{FF2B5EF4-FFF2-40B4-BE49-F238E27FC236}">
                <a16:creationId xmlns:a16="http://schemas.microsoft.com/office/drawing/2014/main" id="{6415029D-4451-40FC-B560-6A316864DE00}"/>
              </a:ext>
            </a:extLst>
          </p:cNvPr>
          <p:cNvCxnSpPr/>
          <p:nvPr/>
        </p:nvCxnSpPr>
        <p:spPr bwMode="auto">
          <a:xfrm>
            <a:off x="5215490" y="4099180"/>
            <a:ext cx="1428750" cy="0"/>
          </a:xfrm>
          <a:prstGeom prst="straightConnector1">
            <a:avLst/>
          </a:prstGeom>
          <a:noFill/>
          <a:ln w="9525" cap="flat" cmpd="sng" algn="ctr">
            <a:solidFill>
              <a:srgbClr val="151515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67" name="TextBox 75">
            <a:extLst>
              <a:ext uri="{FF2B5EF4-FFF2-40B4-BE49-F238E27FC236}">
                <a16:creationId xmlns:a16="http://schemas.microsoft.com/office/drawing/2014/main" id="{B118ED9E-7E55-4A01-ABE7-441A04DDD0B5}"/>
              </a:ext>
            </a:extLst>
          </p:cNvPr>
          <p:cNvSpPr txBox="1"/>
          <p:nvPr/>
        </p:nvSpPr>
        <p:spPr>
          <a:xfrm>
            <a:off x="4395831" y="4159992"/>
            <a:ext cx="3577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151515"/>
                </a:solidFill>
              </a:rPr>
              <a:t>B</a:t>
            </a:r>
          </a:p>
        </p:txBody>
      </p:sp>
      <p:cxnSp>
        <p:nvCxnSpPr>
          <p:cNvPr id="69" name="Straight Arrow Connector 77">
            <a:extLst>
              <a:ext uri="{FF2B5EF4-FFF2-40B4-BE49-F238E27FC236}">
                <a16:creationId xmlns:a16="http://schemas.microsoft.com/office/drawing/2014/main" id="{F28727C8-3FDA-44A8-A095-7F3D55C0C061}"/>
              </a:ext>
            </a:extLst>
          </p:cNvPr>
          <p:cNvCxnSpPr/>
          <p:nvPr/>
        </p:nvCxnSpPr>
        <p:spPr bwMode="auto">
          <a:xfrm flipH="1">
            <a:off x="5665881" y="5005239"/>
            <a:ext cx="457200" cy="571500"/>
          </a:xfrm>
          <a:prstGeom prst="straightConnector1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/>
          </a:ln>
          <a:effectLst/>
        </p:spPr>
      </p:cxnSp>
      <p:pic>
        <p:nvPicPr>
          <p:cNvPr id="15" name="Image 14">
            <a:extLst>
              <a:ext uri="{FF2B5EF4-FFF2-40B4-BE49-F238E27FC236}">
                <a16:creationId xmlns:a16="http://schemas.microsoft.com/office/drawing/2014/main" id="{A2B90BB4-F6C4-4D43-AB92-74D5E559CA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458" y="3169387"/>
            <a:ext cx="3391074" cy="3149762"/>
          </a:xfrm>
          <a:prstGeom prst="rect">
            <a:avLst/>
          </a:prstGeom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357F5795-A2B7-402F-9AC0-46142F4FBB2C}"/>
              </a:ext>
            </a:extLst>
          </p:cNvPr>
          <p:cNvSpPr txBox="1"/>
          <p:nvPr/>
        </p:nvSpPr>
        <p:spPr>
          <a:xfrm>
            <a:off x="426979" y="6394223"/>
            <a:ext cx="38583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i="0" dirty="0">
                <a:solidFill>
                  <a:srgbClr val="1D3D5D"/>
                </a:solidFill>
                <a:effectLst/>
                <a:latin typeface="Crimson Pro"/>
              </a:rPr>
              <a:t>© </a:t>
            </a:r>
            <a:r>
              <a:rPr lang="fr-FR" sz="1200" dirty="0"/>
              <a:t>C.J. Van Der </a:t>
            </a:r>
            <a:r>
              <a:rPr lang="fr-FR" sz="1200" dirty="0" err="1"/>
              <a:t>Beek</a:t>
            </a:r>
            <a:endParaRPr lang="fr-FR" sz="1200" dirty="0"/>
          </a:p>
        </p:txBody>
      </p:sp>
      <p:sp>
        <p:nvSpPr>
          <p:cNvPr id="68" name="TextBox 62">
            <a:extLst>
              <a:ext uri="{FF2B5EF4-FFF2-40B4-BE49-F238E27FC236}">
                <a16:creationId xmlns:a16="http://schemas.microsoft.com/office/drawing/2014/main" id="{DF9B0627-FBAA-4D89-AFFD-3B8554CE8562}"/>
              </a:ext>
            </a:extLst>
          </p:cNvPr>
          <p:cNvSpPr txBox="1"/>
          <p:nvPr/>
        </p:nvSpPr>
        <p:spPr>
          <a:xfrm>
            <a:off x="6617351" y="4340291"/>
            <a:ext cx="4336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 err="1">
                <a:solidFill>
                  <a:srgbClr val="008000"/>
                </a:solidFill>
              </a:rPr>
              <a:t>f</a:t>
            </a:r>
            <a:r>
              <a:rPr lang="en-US" sz="2000" b="1" i="1" baseline="-25000" dirty="0" err="1">
                <a:solidFill>
                  <a:srgbClr val="008000"/>
                </a:solidFill>
              </a:rPr>
              <a:t>p</a:t>
            </a:r>
            <a:endParaRPr lang="en-US" sz="2000" b="1" i="1" baseline="-25000" dirty="0">
              <a:solidFill>
                <a:srgbClr val="008000"/>
              </a:solidFill>
            </a:endParaRPr>
          </a:p>
        </p:txBody>
      </p:sp>
      <p:cxnSp>
        <p:nvCxnSpPr>
          <p:cNvPr id="70" name="Straight Arrow Connector 54">
            <a:extLst>
              <a:ext uri="{FF2B5EF4-FFF2-40B4-BE49-F238E27FC236}">
                <a16:creationId xmlns:a16="http://schemas.microsoft.com/office/drawing/2014/main" id="{6ECEFA6E-05E2-4FD0-B634-9EB692233953}"/>
              </a:ext>
            </a:extLst>
          </p:cNvPr>
          <p:cNvCxnSpPr/>
          <p:nvPr/>
        </p:nvCxnSpPr>
        <p:spPr bwMode="auto">
          <a:xfrm flipV="1">
            <a:off x="6272883" y="4468721"/>
            <a:ext cx="373280" cy="380234"/>
          </a:xfrm>
          <a:prstGeom prst="straightConnector1">
            <a:avLst/>
          </a:prstGeom>
          <a:noFill/>
          <a:ln w="38100" cap="flat" cmpd="sng" algn="ctr">
            <a:solidFill>
              <a:srgbClr val="008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9" name="Espace réservé du contenu 10">
            <a:extLst>
              <a:ext uri="{FF2B5EF4-FFF2-40B4-BE49-F238E27FC236}">
                <a16:creationId xmlns:a16="http://schemas.microsoft.com/office/drawing/2014/main" id="{AEC9832A-24E5-46C1-9E48-59C3F7628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07073"/>
            <a:ext cx="12946566" cy="1968881"/>
          </a:xfrm>
        </p:spPr>
        <p:txBody>
          <a:bodyPr>
            <a:normAutofit lnSpcReduction="10000"/>
          </a:bodyPr>
          <a:lstStyle/>
          <a:p>
            <a:r>
              <a:rPr lang="fr-FR" dirty="0"/>
              <a:t>Avec un courant </a:t>
            </a:r>
            <a:r>
              <a:rPr lang="fr-FR" dirty="0">
                <a:sym typeface="Wingdings" panose="05000000000000000000" pitchFamily="2" charset="2"/>
              </a:rPr>
              <a:t> Force de Lorentz :                          Dissipation</a:t>
            </a:r>
          </a:p>
          <a:p>
            <a:pPr marL="0" indent="0">
              <a:buNone/>
            </a:pPr>
            <a:r>
              <a:rPr lang="fr-FR" dirty="0">
                <a:sym typeface="Wingdings" panose="05000000000000000000" pitchFamily="2" charset="2"/>
              </a:rPr>
              <a:t>                                                                                             (Bardeen-Stephen)</a:t>
            </a:r>
          </a:p>
          <a:p>
            <a:pPr marL="0" indent="0">
              <a:buNone/>
            </a:pPr>
            <a:endParaRPr lang="fr-FR" dirty="0">
              <a:sym typeface="Wingdings" panose="05000000000000000000" pitchFamily="2" charset="2"/>
            </a:endParaRPr>
          </a:p>
          <a:p>
            <a:r>
              <a:rPr lang="fr-FR" dirty="0">
                <a:sym typeface="Wingdings" panose="05000000000000000000" pitchFamily="2" charset="2"/>
              </a:rPr>
              <a:t>Piégeage des vortex par les défauts  pas de dissipation</a:t>
            </a:r>
          </a:p>
          <a:p>
            <a:pPr marL="0" indent="0">
              <a:buNone/>
            </a:pPr>
            <a:endParaRPr lang="fr-FR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fr-FR" dirty="0">
              <a:sym typeface="Wingdings" panose="05000000000000000000" pitchFamily="2" charset="2"/>
            </a:endParaRPr>
          </a:p>
          <a:p>
            <a:endParaRPr lang="fr-FR" baseline="-250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fr-FR" dirty="0"/>
          </a:p>
          <a:p>
            <a:endParaRPr lang="fr-FR" dirty="0"/>
          </a:p>
        </p:txBody>
      </p:sp>
      <p:pic>
        <p:nvPicPr>
          <p:cNvPr id="71" name="Picture 49">
            <a:extLst>
              <a:ext uri="{FF2B5EF4-FFF2-40B4-BE49-F238E27FC236}">
                <a16:creationId xmlns:a16="http://schemas.microsoft.com/office/drawing/2014/main" id="{07F438A6-5BD1-4096-BD84-E664BB1867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21259" y="4686427"/>
            <a:ext cx="1219200" cy="1600200"/>
          </a:xfrm>
          <a:prstGeom prst="rect">
            <a:avLst/>
          </a:prstGeom>
        </p:spPr>
      </p:pic>
      <p:pic>
        <p:nvPicPr>
          <p:cNvPr id="72" name="Picture 48">
            <a:extLst>
              <a:ext uri="{FF2B5EF4-FFF2-40B4-BE49-F238E27FC236}">
                <a16:creationId xmlns:a16="http://schemas.microsoft.com/office/drawing/2014/main" id="{65903E9C-F580-4B72-B99B-1D6D5810384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70349" y="4816545"/>
            <a:ext cx="1052513" cy="12954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15D338F9-A6DE-4AA3-9EBC-DD35C5204DEF}"/>
              </a:ext>
            </a:extLst>
          </p:cNvPr>
          <p:cNvSpPr txBox="1"/>
          <p:nvPr/>
        </p:nvSpPr>
        <p:spPr>
          <a:xfrm>
            <a:off x="9104192" y="3168304"/>
            <a:ext cx="3389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Exemple</a:t>
            </a:r>
            <a:r>
              <a:rPr lang="en-US" dirty="0"/>
              <a:t> de </a:t>
            </a:r>
            <a:r>
              <a:rPr lang="en-US" dirty="0" err="1"/>
              <a:t>piégeage</a:t>
            </a:r>
            <a:r>
              <a:rPr lang="en-US" dirty="0"/>
              <a:t> 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9909D6-93C4-48E3-AA3E-024C5B01C050}"/>
              </a:ext>
            </a:extLst>
          </p:cNvPr>
          <p:cNvSpPr/>
          <p:nvPr/>
        </p:nvSpPr>
        <p:spPr>
          <a:xfrm>
            <a:off x="10477044" y="3895717"/>
            <a:ext cx="150762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par </a:t>
            </a:r>
            <a:r>
              <a:rPr lang="en-US" dirty="0" err="1"/>
              <a:t>défauts</a:t>
            </a:r>
            <a:r>
              <a:rPr lang="en-US" dirty="0"/>
              <a:t> </a:t>
            </a:r>
            <a:r>
              <a:rPr lang="en-US" dirty="0" err="1"/>
              <a:t>collonnaires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7102DF-071E-4740-89CB-FDA6DE1F6C60}"/>
              </a:ext>
            </a:extLst>
          </p:cNvPr>
          <p:cNvSpPr/>
          <p:nvPr/>
        </p:nvSpPr>
        <p:spPr>
          <a:xfrm>
            <a:off x="8596115" y="3885828"/>
            <a:ext cx="16134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par </a:t>
            </a:r>
            <a:r>
              <a:rPr lang="en-US" dirty="0" err="1"/>
              <a:t>nanoparticules</a:t>
            </a:r>
            <a:endParaRPr lang="en-US" dirty="0"/>
          </a:p>
        </p:txBody>
      </p:sp>
      <p:sp>
        <p:nvSpPr>
          <p:cNvPr id="73" name="TextBox 62">
            <a:extLst>
              <a:ext uri="{FF2B5EF4-FFF2-40B4-BE49-F238E27FC236}">
                <a16:creationId xmlns:a16="http://schemas.microsoft.com/office/drawing/2014/main" id="{C76FB76B-21BD-4B55-9CC2-D2B2BF032AFD}"/>
              </a:ext>
            </a:extLst>
          </p:cNvPr>
          <p:cNvSpPr txBox="1"/>
          <p:nvPr/>
        </p:nvSpPr>
        <p:spPr>
          <a:xfrm>
            <a:off x="5664141" y="5482410"/>
            <a:ext cx="4336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chemeClr val="accent2"/>
                </a:solidFill>
              </a:rPr>
              <a:t>F</a:t>
            </a:r>
            <a:r>
              <a:rPr lang="en-US" sz="2000" b="1" i="1" baseline="-25000" dirty="0">
                <a:solidFill>
                  <a:schemeClr val="accent2"/>
                </a:solidFill>
              </a:rPr>
              <a:t>L</a:t>
            </a:r>
          </a:p>
        </p:txBody>
      </p:sp>
    </p:spTree>
    <p:extLst>
      <p:ext uri="{BB962C8B-B14F-4D97-AF65-F5344CB8AC3E}">
        <p14:creationId xmlns:p14="http://schemas.microsoft.com/office/powerpoint/2010/main" val="3492166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5B61D96-3DED-4465-BD03-91F2B30EBDEB}"/>
              </a:ext>
            </a:extLst>
          </p:cNvPr>
          <p:cNvSpPr/>
          <p:nvPr/>
        </p:nvSpPr>
        <p:spPr>
          <a:xfrm>
            <a:off x="0" y="0"/>
            <a:ext cx="12192000" cy="42351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3A6068-251C-4982-8461-86E6FEEE7F89}"/>
              </a:ext>
            </a:extLst>
          </p:cNvPr>
          <p:cNvSpPr/>
          <p:nvPr/>
        </p:nvSpPr>
        <p:spPr>
          <a:xfrm>
            <a:off x="6096000" y="0"/>
            <a:ext cx="6096000" cy="423512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A7E166D-683E-44CC-9DD5-5E1653517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824088" y="6029309"/>
            <a:ext cx="2743200" cy="365125"/>
          </a:xfrm>
        </p:spPr>
        <p:txBody>
          <a:bodyPr/>
          <a:lstStyle/>
          <a:p>
            <a:fld id="{D4154B72-9C63-4F24-BB69-DA53AAEBB3A5}" type="slidenum">
              <a:rPr lang="fr-FR" sz="2000" smtClean="0">
                <a:solidFill>
                  <a:schemeClr val="bg1"/>
                </a:solidFill>
              </a:rPr>
              <a:t>4</a:t>
            </a:fld>
            <a:endParaRPr lang="fr-FR" sz="2000" dirty="0">
              <a:solidFill>
                <a:schemeClr val="bg1"/>
              </a:solidFill>
            </a:endParaRPr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55F24D9D-D57A-491C-892F-B55139ED274B}"/>
              </a:ext>
            </a:extLst>
          </p:cNvPr>
          <p:cNvSpPr txBox="1">
            <a:spLocks/>
          </p:cNvSpPr>
          <p:nvPr/>
        </p:nvSpPr>
        <p:spPr>
          <a:xfrm>
            <a:off x="0" y="29512"/>
            <a:ext cx="6096000" cy="39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sz="2000" dirty="0">
                <a:solidFill>
                  <a:schemeClr val="bg1"/>
                </a:solidFill>
              </a:rPr>
              <a:t>					 24/06/2025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AB0CC667-7FA4-4ADA-A8E3-3124B1B570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298913"/>
            <a:ext cx="1524000" cy="1528660"/>
          </a:xfrm>
          <a:prstGeom prst="rect">
            <a:avLst/>
          </a:prstGeom>
        </p:spPr>
      </p:pic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27D80CE0-EF57-427D-A0BE-D3D0D93718A2}"/>
              </a:ext>
            </a:extLst>
          </p:cNvPr>
          <p:cNvSpPr txBox="1">
            <a:spLocks/>
          </p:cNvSpPr>
          <p:nvPr/>
        </p:nvSpPr>
        <p:spPr>
          <a:xfrm>
            <a:off x="9315650" y="192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4154B72-9C63-4F24-BB69-DA53AAEBB3A5}" type="slidenum">
              <a:rPr lang="fr-FR" sz="2000" smtClean="0">
                <a:solidFill>
                  <a:schemeClr val="bg1"/>
                </a:solidFill>
              </a:rPr>
              <a:pPr/>
              <a:t>4</a:t>
            </a:fld>
            <a:endParaRPr lang="fr-FR" sz="2000" dirty="0">
              <a:solidFill>
                <a:schemeClr val="bg1"/>
              </a:solidFill>
            </a:endParaRPr>
          </a:p>
        </p:txBody>
      </p:sp>
      <p:sp>
        <p:nvSpPr>
          <p:cNvPr id="18" name="Titre 7">
            <a:extLst>
              <a:ext uri="{FF2B5EF4-FFF2-40B4-BE49-F238E27FC236}">
                <a16:creationId xmlns:a16="http://schemas.microsoft.com/office/drawing/2014/main" id="{B92A464D-E494-41FD-913D-F3DBEBCF044A}"/>
              </a:ext>
            </a:extLst>
          </p:cNvPr>
          <p:cNvSpPr txBox="1">
            <a:spLocks/>
          </p:cNvSpPr>
          <p:nvPr/>
        </p:nvSpPr>
        <p:spPr>
          <a:xfrm>
            <a:off x="1243262" y="15008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b="1" dirty="0"/>
              <a:t>courant critique dans les supra de type II</a:t>
            </a:r>
          </a:p>
        </p:txBody>
      </p:sp>
      <p:sp>
        <p:nvSpPr>
          <p:cNvPr id="19" name="Espace réservé du contenu 10">
            <a:extLst>
              <a:ext uri="{FF2B5EF4-FFF2-40B4-BE49-F238E27FC236}">
                <a16:creationId xmlns:a16="http://schemas.microsoft.com/office/drawing/2014/main" id="{AEC9832A-24E5-46C1-9E48-59C3F7628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4048" y="1547703"/>
            <a:ext cx="10343641" cy="518588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fr-FR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fr-FR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fr-FR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fr-FR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fr-FR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fr-FR" dirty="0">
              <a:sym typeface="Wingdings" panose="05000000000000000000" pitchFamily="2" charset="2"/>
            </a:endParaRPr>
          </a:p>
          <a:p>
            <a:r>
              <a:rPr lang="fr-FR" dirty="0" err="1">
                <a:sym typeface="Wingdings" panose="05000000000000000000" pitchFamily="2" charset="2"/>
              </a:rPr>
              <a:t>I</a:t>
            </a:r>
            <a:r>
              <a:rPr lang="fr-FR" baseline="-25000" dirty="0" err="1">
                <a:sym typeface="Wingdings" panose="05000000000000000000" pitchFamily="2" charset="2"/>
              </a:rPr>
              <a:t>c</a:t>
            </a:r>
            <a:r>
              <a:rPr lang="fr-FR" dirty="0">
                <a:sym typeface="Wingdings" panose="05000000000000000000" pitchFamily="2" charset="2"/>
              </a:rPr>
              <a:t> : Courant tel que Lorentz = Piégeage</a:t>
            </a:r>
          </a:p>
          <a:p>
            <a:r>
              <a:rPr lang="fr-FR" dirty="0">
                <a:sym typeface="Wingdings" panose="05000000000000000000" pitchFamily="2" charset="2"/>
              </a:rPr>
              <a:t>Plus H augmente, plus il y a de vortex</a:t>
            </a:r>
          </a:p>
          <a:p>
            <a:endParaRPr lang="fr-FR" dirty="0">
              <a:sym typeface="Wingdings" panose="05000000000000000000" pitchFamily="2" charset="2"/>
            </a:endParaRPr>
          </a:p>
          <a:p>
            <a:r>
              <a:rPr lang="fr-FR" dirty="0" err="1">
                <a:sym typeface="Wingdings" panose="05000000000000000000" pitchFamily="2" charset="2"/>
              </a:rPr>
              <a:t>Ic</a:t>
            </a:r>
            <a:r>
              <a:rPr lang="fr-FR" dirty="0">
                <a:sym typeface="Wingdings" panose="05000000000000000000" pitchFamily="2" charset="2"/>
              </a:rPr>
              <a:t> dépend de la structure microscopique</a:t>
            </a:r>
          </a:p>
          <a:p>
            <a:pPr marL="0" indent="0">
              <a:buNone/>
            </a:pPr>
            <a:r>
              <a:rPr lang="fr-FR" dirty="0">
                <a:sym typeface="Wingdings" panose="05000000000000000000" pitchFamily="2" charset="2"/>
              </a:rPr>
              <a:t>	  Nécessité de le mesurer</a:t>
            </a:r>
          </a:p>
          <a:p>
            <a:pPr marL="0" indent="0">
              <a:buNone/>
            </a:pPr>
            <a:endParaRPr lang="fr-FR" dirty="0">
              <a:sym typeface="Wingdings" panose="05000000000000000000" pitchFamily="2" charset="2"/>
            </a:endParaRPr>
          </a:p>
          <a:p>
            <a:endParaRPr lang="fr-FR" dirty="0">
              <a:sym typeface="Wingdings" panose="05000000000000000000" pitchFamily="2" charset="2"/>
            </a:endParaRPr>
          </a:p>
          <a:p>
            <a:endParaRPr lang="fr-FR" baseline="-250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fr-FR" dirty="0"/>
          </a:p>
          <a:p>
            <a:endParaRPr lang="fr-FR" dirty="0"/>
          </a:p>
        </p:txBody>
      </p:sp>
      <p:pic>
        <p:nvPicPr>
          <p:cNvPr id="70" name="Image 69">
            <a:extLst>
              <a:ext uri="{FF2B5EF4-FFF2-40B4-BE49-F238E27FC236}">
                <a16:creationId xmlns:a16="http://schemas.microsoft.com/office/drawing/2014/main" id="{6DF35F48-9B42-4D22-AC78-2FDDAA412A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892" y="1183228"/>
            <a:ext cx="4762500" cy="3019425"/>
          </a:xfrm>
          <a:prstGeom prst="rect">
            <a:avLst/>
          </a:prstGeom>
        </p:spPr>
      </p:pic>
      <p:pic>
        <p:nvPicPr>
          <p:cNvPr id="71" name="Image 70">
            <a:extLst>
              <a:ext uri="{FF2B5EF4-FFF2-40B4-BE49-F238E27FC236}">
                <a16:creationId xmlns:a16="http://schemas.microsoft.com/office/drawing/2014/main" id="{F3B94DF4-13CD-4FEA-829F-D3B5788428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837" y="1319842"/>
            <a:ext cx="285765" cy="209561"/>
          </a:xfrm>
          <a:prstGeom prst="rect">
            <a:avLst/>
          </a:prstGeom>
        </p:spPr>
      </p:pic>
      <p:pic>
        <p:nvPicPr>
          <p:cNvPr id="72" name="Image 71">
            <a:extLst>
              <a:ext uri="{FF2B5EF4-FFF2-40B4-BE49-F238E27FC236}">
                <a16:creationId xmlns:a16="http://schemas.microsoft.com/office/drawing/2014/main" id="{C382A09C-A3B6-40CB-AC00-B2CC26F637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706" y="1644634"/>
            <a:ext cx="528028" cy="352018"/>
          </a:xfrm>
          <a:prstGeom prst="rect">
            <a:avLst/>
          </a:prstGeom>
        </p:spPr>
      </p:pic>
      <p:pic>
        <p:nvPicPr>
          <p:cNvPr id="73" name="Image 72">
            <a:extLst>
              <a:ext uri="{FF2B5EF4-FFF2-40B4-BE49-F238E27FC236}">
                <a16:creationId xmlns:a16="http://schemas.microsoft.com/office/drawing/2014/main" id="{2D453F1C-9E9F-4E9D-A80D-E1FD9D3653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892" y="2557676"/>
            <a:ext cx="611842" cy="35201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E113436-D785-4A0C-89D1-74BC1BD27BD5}"/>
              </a:ext>
            </a:extLst>
          </p:cNvPr>
          <p:cNvSpPr/>
          <p:nvPr/>
        </p:nvSpPr>
        <p:spPr>
          <a:xfrm>
            <a:off x="1790279" y="2053164"/>
            <a:ext cx="539014" cy="738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11C6E1E-0D44-48B8-AA26-FC9C8F7655FA}"/>
              </a:ext>
            </a:extLst>
          </p:cNvPr>
          <p:cNvSpPr/>
          <p:nvPr/>
        </p:nvSpPr>
        <p:spPr>
          <a:xfrm>
            <a:off x="2069410" y="2072414"/>
            <a:ext cx="332711" cy="738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A502143D-9986-4530-A403-E415E20FB639}"/>
              </a:ext>
            </a:extLst>
          </p:cNvPr>
          <p:cNvSpPr/>
          <p:nvPr/>
        </p:nvSpPr>
        <p:spPr>
          <a:xfrm>
            <a:off x="2329293" y="2224815"/>
            <a:ext cx="273353" cy="6339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2CDB5096-3BA3-40F6-8EE3-1E97513B9792}"/>
              </a:ext>
            </a:extLst>
          </p:cNvPr>
          <p:cNvSpPr/>
          <p:nvPr/>
        </p:nvSpPr>
        <p:spPr>
          <a:xfrm>
            <a:off x="1799903" y="2047764"/>
            <a:ext cx="539014" cy="738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0090257F-57B9-4EE6-87DA-77BE3E8A775C}"/>
              </a:ext>
            </a:extLst>
          </p:cNvPr>
          <p:cNvSpPr/>
          <p:nvPr/>
        </p:nvSpPr>
        <p:spPr>
          <a:xfrm>
            <a:off x="2338917" y="2219415"/>
            <a:ext cx="273353" cy="6339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F45777CE-E2E3-4E62-9885-886ADB422A21}"/>
              </a:ext>
            </a:extLst>
          </p:cNvPr>
          <p:cNvSpPr/>
          <p:nvPr/>
        </p:nvSpPr>
        <p:spPr>
          <a:xfrm>
            <a:off x="1307416" y="2873934"/>
            <a:ext cx="539014" cy="738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5DE3F7CE-7969-40FC-ACF0-F069BCDBEBDF}"/>
              </a:ext>
            </a:extLst>
          </p:cNvPr>
          <p:cNvSpPr/>
          <p:nvPr/>
        </p:nvSpPr>
        <p:spPr>
          <a:xfrm>
            <a:off x="1846430" y="2930085"/>
            <a:ext cx="273353" cy="7449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A2241EC9-FECA-4D0E-823A-B1EA72E32AEA}"/>
              </a:ext>
            </a:extLst>
          </p:cNvPr>
          <p:cNvSpPr/>
          <p:nvPr/>
        </p:nvSpPr>
        <p:spPr>
          <a:xfrm>
            <a:off x="3358797" y="1707673"/>
            <a:ext cx="622835" cy="8692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5553E635-8C40-463D-98EB-E00B1C3FFB31}"/>
              </a:ext>
            </a:extLst>
          </p:cNvPr>
          <p:cNvSpPr/>
          <p:nvPr/>
        </p:nvSpPr>
        <p:spPr>
          <a:xfrm>
            <a:off x="3981632" y="1773449"/>
            <a:ext cx="273353" cy="746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Forme libre : forme 12">
            <a:extLst>
              <a:ext uri="{FF2B5EF4-FFF2-40B4-BE49-F238E27FC236}">
                <a16:creationId xmlns:a16="http://schemas.microsoft.com/office/drawing/2014/main" id="{A69DFECE-5EC0-48B3-A5B3-500E329D0F63}"/>
              </a:ext>
            </a:extLst>
          </p:cNvPr>
          <p:cNvSpPr/>
          <p:nvPr/>
        </p:nvSpPr>
        <p:spPr>
          <a:xfrm>
            <a:off x="1183886" y="2317544"/>
            <a:ext cx="2935705" cy="1378556"/>
          </a:xfrm>
          <a:custGeom>
            <a:avLst/>
            <a:gdLst>
              <a:gd name="connsiteX0" fmla="*/ 2935705 w 2935705"/>
              <a:gd name="connsiteY0" fmla="*/ 1378556 h 1378556"/>
              <a:gd name="connsiteX1" fmla="*/ 2704699 w 2935705"/>
              <a:gd name="connsiteY1" fmla="*/ 1060922 h 1378556"/>
              <a:gd name="connsiteX2" fmla="*/ 2348564 w 2935705"/>
              <a:gd name="connsiteY2" fmla="*/ 772164 h 1378556"/>
              <a:gd name="connsiteX3" fmla="*/ 1463040 w 2935705"/>
              <a:gd name="connsiteY3" fmla="*/ 310152 h 1378556"/>
              <a:gd name="connsiteX4" fmla="*/ 529390 w 2935705"/>
              <a:gd name="connsiteY4" fmla="*/ 50270 h 1378556"/>
              <a:gd name="connsiteX5" fmla="*/ 0 w 2935705"/>
              <a:gd name="connsiteY5" fmla="*/ 11769 h 1378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35705" h="1378556">
                <a:moveTo>
                  <a:pt x="2935705" y="1378556"/>
                </a:moveTo>
                <a:cubicBezTo>
                  <a:pt x="2869130" y="1270271"/>
                  <a:pt x="2802556" y="1161987"/>
                  <a:pt x="2704699" y="1060922"/>
                </a:cubicBezTo>
                <a:cubicBezTo>
                  <a:pt x="2606842" y="959857"/>
                  <a:pt x="2555507" y="897292"/>
                  <a:pt x="2348564" y="772164"/>
                </a:cubicBezTo>
                <a:cubicBezTo>
                  <a:pt x="2141621" y="647036"/>
                  <a:pt x="1766235" y="430468"/>
                  <a:pt x="1463040" y="310152"/>
                </a:cubicBezTo>
                <a:cubicBezTo>
                  <a:pt x="1159845" y="189836"/>
                  <a:pt x="773230" y="100000"/>
                  <a:pt x="529390" y="50270"/>
                </a:cubicBezTo>
                <a:cubicBezTo>
                  <a:pt x="285550" y="540"/>
                  <a:pt x="62564" y="-12294"/>
                  <a:pt x="0" y="11769"/>
                </a:cubicBezTo>
              </a:path>
            </a:pathLst>
          </a:cu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1" name="Image 80">
            <a:extLst>
              <a:ext uri="{FF2B5EF4-FFF2-40B4-BE49-F238E27FC236}">
                <a16:creationId xmlns:a16="http://schemas.microsoft.com/office/drawing/2014/main" id="{DADFA5F6-FFEF-4F02-94CC-E5DB8033ADE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892" y="2071322"/>
            <a:ext cx="611842" cy="380815"/>
          </a:xfrm>
          <a:prstGeom prst="rect">
            <a:avLst/>
          </a:prstGeom>
        </p:spPr>
      </p:pic>
      <p:cxnSp>
        <p:nvCxnSpPr>
          <p:cNvPr id="83" name="Connecteur droit avec flèche 82">
            <a:extLst>
              <a:ext uri="{FF2B5EF4-FFF2-40B4-BE49-F238E27FC236}">
                <a16:creationId xmlns:a16="http://schemas.microsoft.com/office/drawing/2014/main" id="{2583EFB7-8873-4796-9353-75C5D713647C}"/>
              </a:ext>
            </a:extLst>
          </p:cNvPr>
          <p:cNvCxnSpPr>
            <a:endCxn id="76" idx="0"/>
          </p:cNvCxnSpPr>
          <p:nvPr/>
        </p:nvCxnSpPr>
        <p:spPr>
          <a:xfrm flipH="1">
            <a:off x="2475594" y="2071322"/>
            <a:ext cx="3867454" cy="14809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4" name="Connecteur droit avec flèche 83">
            <a:extLst>
              <a:ext uri="{FF2B5EF4-FFF2-40B4-BE49-F238E27FC236}">
                <a16:creationId xmlns:a16="http://schemas.microsoft.com/office/drawing/2014/main" id="{AC3F8736-83BE-43AC-A5A2-722E0AB60B4B}"/>
              </a:ext>
            </a:extLst>
          </p:cNvPr>
          <p:cNvCxnSpPr>
            <a:cxnSpLocks/>
          </p:cNvCxnSpPr>
          <p:nvPr/>
        </p:nvCxnSpPr>
        <p:spPr>
          <a:xfrm flipH="1" flipV="1">
            <a:off x="2589494" y="2824202"/>
            <a:ext cx="3912399" cy="37456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5" name="Espace réservé du contenu 10">
            <a:extLst>
              <a:ext uri="{FF2B5EF4-FFF2-40B4-BE49-F238E27FC236}">
                <a16:creationId xmlns:a16="http://schemas.microsoft.com/office/drawing/2014/main" id="{C6613109-E355-4F8E-85DC-7578C2AA8E90}"/>
              </a:ext>
            </a:extLst>
          </p:cNvPr>
          <p:cNvSpPr txBox="1">
            <a:spLocks/>
          </p:cNvSpPr>
          <p:nvPr/>
        </p:nvSpPr>
        <p:spPr>
          <a:xfrm>
            <a:off x="6434457" y="1809993"/>
            <a:ext cx="5172837" cy="85884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dirty="0">
                <a:sym typeface="Wingdings" panose="05000000000000000000" pitchFamily="2" charset="2"/>
              </a:rPr>
              <a:t>Vortex dépiégé </a:t>
            </a:r>
            <a:r>
              <a:rPr lang="fr-FR" b="1" dirty="0">
                <a:sym typeface="Wingdings" panose="05000000000000000000" pitchFamily="2" charset="2"/>
              </a:rPr>
              <a:t>sans courant</a:t>
            </a:r>
          </a:p>
          <a:p>
            <a:pPr marL="0" indent="0">
              <a:buNone/>
            </a:pPr>
            <a:r>
              <a:rPr lang="fr-FR" b="1" dirty="0" err="1">
                <a:sym typeface="Wingdings" panose="05000000000000000000" pitchFamily="2" charset="2"/>
              </a:rPr>
              <a:t>Ic</a:t>
            </a:r>
            <a:r>
              <a:rPr lang="fr-FR" b="1" dirty="0">
                <a:sym typeface="Wingdings" panose="05000000000000000000" pitchFamily="2" charset="2"/>
              </a:rPr>
              <a:t> = 0</a:t>
            </a:r>
          </a:p>
          <a:p>
            <a:pPr marL="0" indent="0">
              <a:buNone/>
            </a:pPr>
            <a:endParaRPr lang="fr-FR" b="1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fr-FR" b="1" dirty="0">
              <a:sym typeface="Wingdings" panose="05000000000000000000" pitchFamily="2" charset="2"/>
            </a:endParaRPr>
          </a:p>
          <a:p>
            <a:endParaRPr lang="fr-FR" baseline="-25000" dirty="0"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fr-FR" dirty="0"/>
          </a:p>
          <a:p>
            <a:endParaRPr lang="fr-FR" dirty="0"/>
          </a:p>
        </p:txBody>
      </p:sp>
      <p:sp>
        <p:nvSpPr>
          <p:cNvPr id="86" name="Espace réservé du contenu 10">
            <a:extLst>
              <a:ext uri="{FF2B5EF4-FFF2-40B4-BE49-F238E27FC236}">
                <a16:creationId xmlns:a16="http://schemas.microsoft.com/office/drawing/2014/main" id="{9F224577-C0AC-415B-A332-D80754FD1806}"/>
              </a:ext>
            </a:extLst>
          </p:cNvPr>
          <p:cNvSpPr txBox="1">
            <a:spLocks/>
          </p:cNvSpPr>
          <p:nvPr/>
        </p:nvSpPr>
        <p:spPr>
          <a:xfrm>
            <a:off x="6501893" y="2452136"/>
            <a:ext cx="2606297" cy="16250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fr-FR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fr-FR" dirty="0">
                <a:sym typeface="Wingdings" panose="05000000000000000000" pitchFamily="2" charset="2"/>
              </a:rPr>
              <a:t>Vortex piégé</a:t>
            </a:r>
          </a:p>
          <a:p>
            <a:pPr marL="0" indent="0">
              <a:buNone/>
            </a:pPr>
            <a:r>
              <a:rPr lang="fr-FR" b="1" dirty="0" err="1">
                <a:sym typeface="Wingdings" panose="05000000000000000000" pitchFamily="2" charset="2"/>
              </a:rPr>
              <a:t>Ic</a:t>
            </a:r>
            <a:r>
              <a:rPr lang="fr-FR" b="1" dirty="0">
                <a:sym typeface="Wingdings" panose="05000000000000000000" pitchFamily="2" charset="2"/>
              </a:rPr>
              <a:t> &gt; 0</a:t>
            </a:r>
          </a:p>
          <a:p>
            <a:endParaRPr lang="fr-FR" baseline="-25000" dirty="0"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81648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5B61D96-3DED-4465-BD03-91F2B30EBDEB}"/>
              </a:ext>
            </a:extLst>
          </p:cNvPr>
          <p:cNvSpPr/>
          <p:nvPr/>
        </p:nvSpPr>
        <p:spPr>
          <a:xfrm>
            <a:off x="0" y="0"/>
            <a:ext cx="12192000" cy="42351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3A6068-251C-4982-8461-86E6FEEE7F89}"/>
              </a:ext>
            </a:extLst>
          </p:cNvPr>
          <p:cNvSpPr/>
          <p:nvPr/>
        </p:nvSpPr>
        <p:spPr>
          <a:xfrm>
            <a:off x="6096000" y="0"/>
            <a:ext cx="6096000" cy="423512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A7E166D-683E-44CC-9DD5-5E1653517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54B72-9C63-4F24-BB69-DA53AAEBB3A5}" type="slidenum">
              <a:rPr lang="fr-FR" sz="2000" smtClean="0">
                <a:solidFill>
                  <a:schemeClr val="bg1"/>
                </a:solidFill>
              </a:rPr>
              <a:t>5</a:t>
            </a:fld>
            <a:endParaRPr lang="fr-FR" sz="2000" dirty="0">
              <a:solidFill>
                <a:schemeClr val="bg1"/>
              </a:solidFill>
            </a:endParaRPr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55F24D9D-D57A-491C-892F-B55139ED274B}"/>
              </a:ext>
            </a:extLst>
          </p:cNvPr>
          <p:cNvSpPr txBox="1">
            <a:spLocks/>
          </p:cNvSpPr>
          <p:nvPr/>
        </p:nvSpPr>
        <p:spPr>
          <a:xfrm>
            <a:off x="0" y="29512"/>
            <a:ext cx="6096000" cy="39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sz="2000" dirty="0">
                <a:solidFill>
                  <a:schemeClr val="bg1"/>
                </a:solidFill>
              </a:rPr>
              <a:t>					 24/06/2025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AB0CC667-7FA4-4ADA-A8E3-3124B1B570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298913"/>
            <a:ext cx="1524000" cy="1528660"/>
          </a:xfrm>
          <a:prstGeom prst="rect">
            <a:avLst/>
          </a:prstGeom>
        </p:spPr>
      </p:pic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27D80CE0-EF57-427D-A0BE-D3D0D93718A2}"/>
              </a:ext>
            </a:extLst>
          </p:cNvPr>
          <p:cNvSpPr txBox="1">
            <a:spLocks/>
          </p:cNvSpPr>
          <p:nvPr/>
        </p:nvSpPr>
        <p:spPr>
          <a:xfrm>
            <a:off x="9315650" y="192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4154B72-9C63-4F24-BB69-DA53AAEBB3A5}" type="slidenum">
              <a:rPr lang="fr-FR" sz="2000" smtClean="0">
                <a:solidFill>
                  <a:schemeClr val="bg1"/>
                </a:solidFill>
              </a:rPr>
              <a:pPr/>
              <a:t>5</a:t>
            </a:fld>
            <a:endParaRPr lang="fr-FR" sz="2000" dirty="0">
              <a:solidFill>
                <a:schemeClr val="bg1"/>
              </a:solidFill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6F44FEF6-008C-492B-B84A-A4ACB2B356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1009" y="1486162"/>
            <a:ext cx="1465582" cy="2849237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5BDB33CC-1BAE-4EEB-9EFB-D319269856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749" y="1539521"/>
            <a:ext cx="4083260" cy="419122"/>
          </a:xfrm>
          <a:prstGeom prst="rect">
            <a:avLst/>
          </a:prstGeom>
        </p:spPr>
      </p:pic>
      <p:sp>
        <p:nvSpPr>
          <p:cNvPr id="18" name="Titre 7">
            <a:extLst>
              <a:ext uri="{FF2B5EF4-FFF2-40B4-BE49-F238E27FC236}">
                <a16:creationId xmlns:a16="http://schemas.microsoft.com/office/drawing/2014/main" id="{B92A464D-E494-41FD-913D-F3DBEBCF044A}"/>
              </a:ext>
            </a:extLst>
          </p:cNvPr>
          <p:cNvSpPr txBox="1">
            <a:spLocks/>
          </p:cNvSpPr>
          <p:nvPr/>
        </p:nvSpPr>
        <p:spPr>
          <a:xfrm>
            <a:off x="838200" y="413887"/>
            <a:ext cx="101981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b="1" dirty="0"/>
              <a:t>Fils et rubans supra bas et haut T</a:t>
            </a:r>
            <a:r>
              <a:rPr lang="fr-FR" b="1" baseline="-25000" dirty="0"/>
              <a:t>c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8481B710-A064-4965-94C5-C074B2F01775}"/>
              </a:ext>
            </a:extLst>
          </p:cNvPr>
          <p:cNvSpPr txBox="1"/>
          <p:nvPr/>
        </p:nvSpPr>
        <p:spPr>
          <a:xfrm>
            <a:off x="7385999" y="2145132"/>
            <a:ext cx="266186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 dirty="0"/>
              <a:t>YBCO: T</a:t>
            </a:r>
            <a:r>
              <a:rPr lang="fr-FR" sz="2800" baseline="-25000" dirty="0"/>
              <a:t>c</a:t>
            </a:r>
            <a:r>
              <a:rPr lang="fr-FR" sz="2800" dirty="0"/>
              <a:t> = 92 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 dirty="0"/>
              <a:t>Structure en plans CuO</a:t>
            </a:r>
            <a:r>
              <a:rPr lang="fr-FR" sz="2800" baseline="-25000" dirty="0"/>
              <a:t>2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BA01C437-4935-4252-A263-F8E5FE3FC2BD}"/>
              </a:ext>
            </a:extLst>
          </p:cNvPr>
          <p:cNvSpPr txBox="1"/>
          <p:nvPr/>
        </p:nvSpPr>
        <p:spPr>
          <a:xfrm>
            <a:off x="10714991" y="4513095"/>
            <a:ext cx="146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i="0" dirty="0">
                <a:solidFill>
                  <a:srgbClr val="1D3D5D"/>
                </a:solidFill>
                <a:effectLst/>
                <a:latin typeface="Crimson Pro"/>
              </a:rPr>
              <a:t>© </a:t>
            </a:r>
            <a:r>
              <a:rPr lang="fr-FR" sz="1400" dirty="0"/>
              <a:t>K. </a:t>
            </a:r>
            <a:r>
              <a:rPr lang="fr-FR" sz="1400" dirty="0" err="1"/>
              <a:t>Brodt</a:t>
            </a:r>
            <a:r>
              <a:rPr lang="fr-FR" sz="1400" dirty="0"/>
              <a:t> et al.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280EDA8B-962B-44E7-8255-C4F7BFF176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1161" y="3888930"/>
            <a:ext cx="4798363" cy="1710055"/>
          </a:xfrm>
          <a:prstGeom prst="rect">
            <a:avLst/>
          </a:prstGeom>
        </p:spPr>
      </p:pic>
      <p:sp>
        <p:nvSpPr>
          <p:cNvPr id="21" name="ZoneTexte 20">
            <a:extLst>
              <a:ext uri="{FF2B5EF4-FFF2-40B4-BE49-F238E27FC236}">
                <a16:creationId xmlns:a16="http://schemas.microsoft.com/office/drawing/2014/main" id="{17BAE1E9-8D9D-4D29-8570-9EF6C88519E3}"/>
              </a:ext>
            </a:extLst>
          </p:cNvPr>
          <p:cNvSpPr txBox="1"/>
          <p:nvPr/>
        </p:nvSpPr>
        <p:spPr>
          <a:xfrm>
            <a:off x="2248194" y="5679607"/>
            <a:ext cx="636240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Cable YBCO = </a:t>
            </a:r>
            <a:r>
              <a:rPr lang="fr-FR" sz="2800" dirty="0" err="1"/>
              <a:t>J</a:t>
            </a:r>
            <a:r>
              <a:rPr lang="fr-FR" sz="2800" baseline="-25000" dirty="0" err="1"/>
              <a:t>c</a:t>
            </a:r>
            <a:r>
              <a:rPr lang="fr-FR" sz="2800" dirty="0"/>
              <a:t> élevé même à H grand</a:t>
            </a:r>
          </a:p>
          <a:p>
            <a:r>
              <a:rPr lang="fr-FR" sz="2800" dirty="0"/>
              <a:t>Pertinence des études à fort champ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F740D731-F975-4811-8A92-B3E0068BB69F}"/>
              </a:ext>
            </a:extLst>
          </p:cNvPr>
          <p:cNvSpPr txBox="1"/>
          <p:nvPr/>
        </p:nvSpPr>
        <p:spPr>
          <a:xfrm>
            <a:off x="449800" y="1716535"/>
            <a:ext cx="545768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Aimants statiques</a:t>
            </a:r>
          </a:p>
          <a:p>
            <a:r>
              <a:rPr lang="fr-FR" sz="2800" dirty="0"/>
              <a:t>H</a:t>
            </a:r>
            <a:r>
              <a:rPr lang="fr-FR" sz="2800" baseline="-25000" dirty="0"/>
              <a:t>c2</a:t>
            </a:r>
            <a:r>
              <a:rPr lang="fr-FR" sz="2800" dirty="0"/>
              <a:t>(0) </a:t>
            </a:r>
            <a:r>
              <a:rPr lang="fr-FR" sz="2800" baseline="-25000" dirty="0" err="1"/>
              <a:t>NbTi</a:t>
            </a:r>
            <a:r>
              <a:rPr lang="fr-FR" sz="2800" dirty="0"/>
              <a:t> = 20 T  (</a:t>
            </a:r>
            <a:r>
              <a:rPr lang="fr-FR" sz="2800" dirty="0" err="1"/>
              <a:t>Hirr</a:t>
            </a:r>
            <a:r>
              <a:rPr lang="fr-FR" sz="2800" dirty="0"/>
              <a:t> &gt;~12 T)</a:t>
            </a:r>
          </a:p>
          <a:p>
            <a:r>
              <a:rPr lang="fr-FR" sz="2800" dirty="0"/>
              <a:t>H</a:t>
            </a:r>
            <a:r>
              <a:rPr lang="fr-FR" sz="2800" baseline="-25000" dirty="0"/>
              <a:t>c2</a:t>
            </a:r>
            <a:r>
              <a:rPr lang="fr-FR" sz="2800" dirty="0"/>
              <a:t>(0) </a:t>
            </a:r>
            <a:r>
              <a:rPr lang="fr-FR" sz="2800" baseline="-25000" dirty="0"/>
              <a:t>Nb3Sn</a:t>
            </a:r>
            <a:r>
              <a:rPr lang="fr-FR" sz="2800" dirty="0"/>
              <a:t> = 30 T  (</a:t>
            </a:r>
            <a:r>
              <a:rPr lang="fr-FR" sz="2800" dirty="0" err="1"/>
              <a:t>Hirr</a:t>
            </a:r>
            <a:r>
              <a:rPr lang="fr-FR" sz="2800" dirty="0"/>
              <a:t> &gt;~20-25 T)</a:t>
            </a:r>
          </a:p>
          <a:p>
            <a:r>
              <a:rPr lang="fr-FR" sz="2800" dirty="0"/>
              <a:t>H</a:t>
            </a:r>
            <a:r>
              <a:rPr lang="fr-FR" sz="2800" baseline="-25000" dirty="0"/>
              <a:t>c2</a:t>
            </a:r>
            <a:r>
              <a:rPr lang="fr-FR" sz="2800" dirty="0"/>
              <a:t>(0) </a:t>
            </a:r>
            <a:r>
              <a:rPr lang="fr-FR" sz="2800" baseline="-25000" dirty="0"/>
              <a:t>YBCO</a:t>
            </a:r>
            <a:r>
              <a:rPr lang="fr-FR" sz="2800" dirty="0"/>
              <a:t> &gt; 100 T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19CF29FE-A3CB-4FCD-844C-482B21AC42C7}"/>
              </a:ext>
            </a:extLst>
          </p:cNvPr>
          <p:cNvSpPr txBox="1"/>
          <p:nvPr/>
        </p:nvSpPr>
        <p:spPr>
          <a:xfrm>
            <a:off x="2501161" y="2802981"/>
            <a:ext cx="34634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2800" dirty="0"/>
          </a:p>
          <a:p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38780421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5B61D96-3DED-4465-BD03-91F2B30EBDEB}"/>
              </a:ext>
            </a:extLst>
          </p:cNvPr>
          <p:cNvSpPr/>
          <p:nvPr/>
        </p:nvSpPr>
        <p:spPr>
          <a:xfrm>
            <a:off x="0" y="0"/>
            <a:ext cx="12192000" cy="42351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3A6068-251C-4982-8461-86E6FEEE7F89}"/>
              </a:ext>
            </a:extLst>
          </p:cNvPr>
          <p:cNvSpPr/>
          <p:nvPr/>
        </p:nvSpPr>
        <p:spPr>
          <a:xfrm>
            <a:off x="6096000" y="0"/>
            <a:ext cx="6096000" cy="423512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A7E166D-683E-44CC-9DD5-5E1653517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54B72-9C63-4F24-BB69-DA53AAEBB3A5}" type="slidenum">
              <a:rPr lang="fr-FR" sz="2000" smtClean="0">
                <a:solidFill>
                  <a:schemeClr val="bg1"/>
                </a:solidFill>
              </a:rPr>
              <a:t>6</a:t>
            </a:fld>
            <a:endParaRPr lang="fr-FR" sz="2000" dirty="0">
              <a:solidFill>
                <a:schemeClr val="bg1"/>
              </a:solidFill>
            </a:endParaRPr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55F24D9D-D57A-491C-892F-B55139ED274B}"/>
              </a:ext>
            </a:extLst>
          </p:cNvPr>
          <p:cNvSpPr txBox="1">
            <a:spLocks/>
          </p:cNvSpPr>
          <p:nvPr/>
        </p:nvSpPr>
        <p:spPr>
          <a:xfrm>
            <a:off x="0" y="29512"/>
            <a:ext cx="6096000" cy="39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sz="2000" dirty="0">
                <a:solidFill>
                  <a:schemeClr val="bg1"/>
                </a:solidFill>
              </a:rPr>
              <a:t>					 24/06/2025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AB0CC667-7FA4-4ADA-A8E3-3124B1B570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298913"/>
            <a:ext cx="1524000" cy="1528660"/>
          </a:xfrm>
          <a:prstGeom prst="rect">
            <a:avLst/>
          </a:prstGeom>
        </p:spPr>
      </p:pic>
      <p:sp>
        <p:nvSpPr>
          <p:cNvPr id="19" name="Espace réservé du numéro de diapositive 5">
            <a:extLst>
              <a:ext uri="{FF2B5EF4-FFF2-40B4-BE49-F238E27FC236}">
                <a16:creationId xmlns:a16="http://schemas.microsoft.com/office/drawing/2014/main" id="{C58A5256-CF99-4FEB-8966-6E30349FB5FC}"/>
              </a:ext>
            </a:extLst>
          </p:cNvPr>
          <p:cNvSpPr txBox="1">
            <a:spLocks/>
          </p:cNvSpPr>
          <p:nvPr/>
        </p:nvSpPr>
        <p:spPr>
          <a:xfrm>
            <a:off x="9315650" y="192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4154B72-9C63-4F24-BB69-DA53AAEBB3A5}" type="slidenum">
              <a:rPr lang="fr-FR" sz="2000" smtClean="0">
                <a:solidFill>
                  <a:schemeClr val="bg1"/>
                </a:solidFill>
              </a:rPr>
              <a:pPr/>
              <a:t>6</a:t>
            </a:fld>
            <a:endParaRPr lang="fr-FR" sz="2000" dirty="0">
              <a:solidFill>
                <a:schemeClr val="bg1"/>
              </a:solidFill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C7568844-D950-4A95-843E-A633C83E52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64" y="986589"/>
            <a:ext cx="8379652" cy="5943600"/>
          </a:xfrm>
          <a:prstGeom prst="rect">
            <a:avLst/>
          </a:prstGeom>
        </p:spPr>
      </p:pic>
      <p:sp>
        <p:nvSpPr>
          <p:cNvPr id="8" name="Titre 7">
            <a:extLst>
              <a:ext uri="{FF2B5EF4-FFF2-40B4-BE49-F238E27FC236}">
                <a16:creationId xmlns:a16="http://schemas.microsoft.com/office/drawing/2014/main" id="{3483E8BA-0432-42AC-8FA3-A99D2476E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3262" y="384375"/>
            <a:ext cx="11081260" cy="1087826"/>
          </a:xfrm>
        </p:spPr>
        <p:txBody>
          <a:bodyPr/>
          <a:lstStyle/>
          <a:p>
            <a:r>
              <a:rPr lang="fr-FR" b="1" dirty="0"/>
              <a:t>Nécessité des champs pulsés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EB19DD-ABEC-4E65-8045-455445748943}"/>
              </a:ext>
            </a:extLst>
          </p:cNvPr>
          <p:cNvSpPr/>
          <p:nvPr/>
        </p:nvSpPr>
        <p:spPr>
          <a:xfrm>
            <a:off x="1524001" y="6356350"/>
            <a:ext cx="1315452" cy="5738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38F1DA7F-1F07-4153-9002-F157B6E4D0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8102" y="1627249"/>
            <a:ext cx="5658882" cy="4244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124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5B61D96-3DED-4465-BD03-91F2B30EBDEB}"/>
              </a:ext>
            </a:extLst>
          </p:cNvPr>
          <p:cNvSpPr/>
          <p:nvPr/>
        </p:nvSpPr>
        <p:spPr>
          <a:xfrm>
            <a:off x="0" y="0"/>
            <a:ext cx="12192000" cy="42351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3A6068-251C-4982-8461-86E6FEEE7F89}"/>
              </a:ext>
            </a:extLst>
          </p:cNvPr>
          <p:cNvSpPr/>
          <p:nvPr/>
        </p:nvSpPr>
        <p:spPr>
          <a:xfrm>
            <a:off x="6096000" y="0"/>
            <a:ext cx="6096000" cy="423512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A7E166D-683E-44CC-9DD5-5E1653517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54B72-9C63-4F24-BB69-DA53AAEBB3A5}" type="slidenum">
              <a:rPr lang="fr-FR" sz="2000" smtClean="0">
                <a:solidFill>
                  <a:schemeClr val="bg1"/>
                </a:solidFill>
              </a:rPr>
              <a:t>7</a:t>
            </a:fld>
            <a:endParaRPr lang="fr-FR" sz="2000" dirty="0">
              <a:solidFill>
                <a:schemeClr val="bg1"/>
              </a:solidFill>
            </a:endParaRPr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55F24D9D-D57A-491C-892F-B55139ED274B}"/>
              </a:ext>
            </a:extLst>
          </p:cNvPr>
          <p:cNvSpPr txBox="1">
            <a:spLocks/>
          </p:cNvSpPr>
          <p:nvPr/>
        </p:nvSpPr>
        <p:spPr>
          <a:xfrm>
            <a:off x="0" y="29512"/>
            <a:ext cx="6096000" cy="39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sz="2000" dirty="0">
                <a:solidFill>
                  <a:schemeClr val="bg1"/>
                </a:solidFill>
              </a:rPr>
              <a:t>					 24/06/2025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AB0CC667-7FA4-4ADA-A8E3-3124B1B570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298913"/>
            <a:ext cx="1524000" cy="1528660"/>
          </a:xfrm>
          <a:prstGeom prst="rect">
            <a:avLst/>
          </a:prstGeom>
        </p:spPr>
      </p:pic>
      <p:sp>
        <p:nvSpPr>
          <p:cNvPr id="19" name="Espace réservé du numéro de diapositive 5">
            <a:extLst>
              <a:ext uri="{FF2B5EF4-FFF2-40B4-BE49-F238E27FC236}">
                <a16:creationId xmlns:a16="http://schemas.microsoft.com/office/drawing/2014/main" id="{C58A5256-CF99-4FEB-8966-6E30349FB5FC}"/>
              </a:ext>
            </a:extLst>
          </p:cNvPr>
          <p:cNvSpPr txBox="1">
            <a:spLocks/>
          </p:cNvSpPr>
          <p:nvPr/>
        </p:nvSpPr>
        <p:spPr>
          <a:xfrm>
            <a:off x="9315650" y="192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4154B72-9C63-4F24-BB69-DA53AAEBB3A5}" type="slidenum">
              <a:rPr lang="fr-FR" sz="2000" smtClean="0">
                <a:solidFill>
                  <a:schemeClr val="bg1"/>
                </a:solidFill>
              </a:rPr>
              <a:pPr/>
              <a:t>7</a:t>
            </a:fld>
            <a:endParaRPr lang="fr-FR" sz="2000" dirty="0">
              <a:solidFill>
                <a:schemeClr val="bg1"/>
              </a:solidFill>
            </a:endParaRPr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3483E8BA-0432-42AC-8FA3-A99D2476E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3262" y="146638"/>
            <a:ext cx="11081260" cy="1325563"/>
          </a:xfrm>
        </p:spPr>
        <p:txBody>
          <a:bodyPr/>
          <a:lstStyle/>
          <a:p>
            <a:r>
              <a:rPr lang="fr-FR" b="1" dirty="0"/>
              <a:t>Objectifs du stage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EB19DD-ABEC-4E65-8045-455445748943}"/>
              </a:ext>
            </a:extLst>
          </p:cNvPr>
          <p:cNvSpPr/>
          <p:nvPr/>
        </p:nvSpPr>
        <p:spPr>
          <a:xfrm>
            <a:off x="1524001" y="6356350"/>
            <a:ext cx="1315452" cy="5738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Espace réservé du contenu 10">
            <a:extLst>
              <a:ext uri="{FF2B5EF4-FFF2-40B4-BE49-F238E27FC236}">
                <a16:creationId xmlns:a16="http://schemas.microsoft.com/office/drawing/2014/main" id="{95A3B9F7-251D-4D29-9580-2AA454962A8D}"/>
              </a:ext>
            </a:extLst>
          </p:cNvPr>
          <p:cNvSpPr txBox="1">
            <a:spLocks/>
          </p:cNvSpPr>
          <p:nvPr/>
        </p:nvSpPr>
        <p:spPr>
          <a:xfrm>
            <a:off x="1243262" y="1865938"/>
            <a:ext cx="10110537" cy="41941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2900" dirty="0"/>
              <a:t>Qualifier le </a:t>
            </a:r>
            <a:r>
              <a:rPr lang="fr-FR" sz="2900" dirty="0" err="1"/>
              <a:t>set-up</a:t>
            </a:r>
            <a:r>
              <a:rPr lang="fr-FR" sz="2900" dirty="0"/>
              <a:t> expérimental de mesures I-V en champ pulsé</a:t>
            </a:r>
          </a:p>
          <a:p>
            <a:pPr lvl="1"/>
            <a:endParaRPr lang="fr-FR" sz="2500" dirty="0"/>
          </a:p>
          <a:p>
            <a:pPr lvl="1"/>
            <a:r>
              <a:rPr lang="fr-FR" sz="2500" dirty="0"/>
              <a:t>Caractérisation de Tc, Hc2 et </a:t>
            </a:r>
            <a:r>
              <a:rPr lang="fr-FR" sz="2500" dirty="0" err="1"/>
              <a:t>Hirr</a:t>
            </a:r>
            <a:r>
              <a:rPr lang="fr-FR" sz="2500" dirty="0"/>
              <a:t> des échantillons tests</a:t>
            </a:r>
          </a:p>
          <a:p>
            <a:pPr lvl="1"/>
            <a:endParaRPr lang="fr-FR" sz="2500" dirty="0">
              <a:sym typeface="Wingdings" panose="05000000000000000000" pitchFamily="2" charset="2"/>
            </a:endParaRPr>
          </a:p>
          <a:p>
            <a:pPr lvl="1"/>
            <a:r>
              <a:rPr lang="fr-FR" sz="2500" dirty="0">
                <a:sym typeface="Wingdings" panose="05000000000000000000" pitchFamily="2" charset="2"/>
              </a:rPr>
              <a:t>Mesures I-V : courant critique, 0-12 T + pulsé 55 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FR" sz="2500" dirty="0">
                <a:sym typeface="Wingdings" panose="05000000000000000000" pitchFamily="2" charset="2"/>
              </a:rPr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5911065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5B61D96-3DED-4465-BD03-91F2B30EBDEB}"/>
              </a:ext>
            </a:extLst>
          </p:cNvPr>
          <p:cNvSpPr/>
          <p:nvPr/>
        </p:nvSpPr>
        <p:spPr>
          <a:xfrm>
            <a:off x="0" y="0"/>
            <a:ext cx="12192000" cy="42351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3A6068-251C-4982-8461-86E6FEEE7F89}"/>
              </a:ext>
            </a:extLst>
          </p:cNvPr>
          <p:cNvSpPr/>
          <p:nvPr/>
        </p:nvSpPr>
        <p:spPr>
          <a:xfrm>
            <a:off x="6096000" y="0"/>
            <a:ext cx="6096000" cy="423512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3483E8BA-0432-42AC-8FA3-A99D2476E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3262" y="540375"/>
            <a:ext cx="10515600" cy="1325563"/>
          </a:xfrm>
        </p:spPr>
        <p:txBody>
          <a:bodyPr/>
          <a:lstStyle/>
          <a:p>
            <a:r>
              <a:rPr lang="fr-FR" b="1" dirty="0"/>
              <a:t>Échantillons YBCO de CERACO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A7E166D-683E-44CC-9DD5-5E1653517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54B72-9C63-4F24-BB69-DA53AAEBB3A5}" type="slidenum">
              <a:rPr lang="fr-FR" sz="2000" smtClean="0">
                <a:solidFill>
                  <a:schemeClr val="bg1"/>
                </a:solidFill>
              </a:rPr>
              <a:t>8</a:t>
            </a:fld>
            <a:endParaRPr lang="fr-FR" sz="2000" dirty="0">
              <a:solidFill>
                <a:schemeClr val="bg1"/>
              </a:solidFill>
            </a:endParaRPr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55F24D9D-D57A-491C-892F-B55139ED274B}"/>
              </a:ext>
            </a:extLst>
          </p:cNvPr>
          <p:cNvSpPr txBox="1">
            <a:spLocks/>
          </p:cNvSpPr>
          <p:nvPr/>
        </p:nvSpPr>
        <p:spPr>
          <a:xfrm>
            <a:off x="0" y="29512"/>
            <a:ext cx="6096000" cy="39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sz="2000" dirty="0">
                <a:solidFill>
                  <a:schemeClr val="bg1"/>
                </a:solidFill>
              </a:rPr>
              <a:t>					 24/06/2025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AB0CC667-7FA4-4ADA-A8E3-3124B1B570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298913"/>
            <a:ext cx="1524000" cy="1528660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26D22F01-F704-4FC8-947C-D595A4831A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3064" y="2066656"/>
            <a:ext cx="3308186" cy="2481139"/>
          </a:xfrm>
          <a:prstGeom prst="rect">
            <a:avLst/>
          </a:prstGeom>
        </p:spPr>
      </p:pic>
      <p:sp>
        <p:nvSpPr>
          <p:cNvPr id="13" name="Espace réservé du numéro de diapositive 5">
            <a:extLst>
              <a:ext uri="{FF2B5EF4-FFF2-40B4-BE49-F238E27FC236}">
                <a16:creationId xmlns:a16="http://schemas.microsoft.com/office/drawing/2014/main" id="{D6D062FA-4627-47FC-8339-C9FCCA36D132}"/>
              </a:ext>
            </a:extLst>
          </p:cNvPr>
          <p:cNvSpPr txBox="1">
            <a:spLocks/>
          </p:cNvSpPr>
          <p:nvPr/>
        </p:nvSpPr>
        <p:spPr>
          <a:xfrm>
            <a:off x="9315650" y="192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4154B72-9C63-4F24-BB69-DA53AAEBB3A5}" type="slidenum">
              <a:rPr lang="fr-FR" sz="2000" smtClean="0">
                <a:solidFill>
                  <a:schemeClr val="bg1"/>
                </a:solidFill>
              </a:rPr>
              <a:pPr/>
              <a:t>8</a:t>
            </a:fld>
            <a:endParaRPr lang="fr-FR" sz="2000" dirty="0">
              <a:solidFill>
                <a:schemeClr val="bg1"/>
              </a:solidFill>
            </a:endParaRPr>
          </a:p>
        </p:txBody>
      </p:sp>
      <p:sp>
        <p:nvSpPr>
          <p:cNvPr id="14" name="Espace réservé du contenu 10">
            <a:extLst>
              <a:ext uri="{FF2B5EF4-FFF2-40B4-BE49-F238E27FC236}">
                <a16:creationId xmlns:a16="http://schemas.microsoft.com/office/drawing/2014/main" id="{7164ED91-994D-4730-897C-89F7117B3C2D}"/>
              </a:ext>
            </a:extLst>
          </p:cNvPr>
          <p:cNvSpPr txBox="1">
            <a:spLocks/>
          </p:cNvSpPr>
          <p:nvPr/>
        </p:nvSpPr>
        <p:spPr>
          <a:xfrm>
            <a:off x="7541791" y="1578000"/>
            <a:ext cx="10110537" cy="40142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dirty="0"/>
              <a:t>CERACO: X021020A</a:t>
            </a:r>
          </a:p>
        </p:txBody>
      </p:sp>
      <p:sp>
        <p:nvSpPr>
          <p:cNvPr id="15" name="Espace réservé du contenu 10">
            <a:extLst>
              <a:ext uri="{FF2B5EF4-FFF2-40B4-BE49-F238E27FC236}">
                <a16:creationId xmlns:a16="http://schemas.microsoft.com/office/drawing/2014/main" id="{82EB9981-00BA-47A1-B45E-DC2A720832E0}"/>
              </a:ext>
            </a:extLst>
          </p:cNvPr>
          <p:cNvSpPr txBox="1">
            <a:spLocks/>
          </p:cNvSpPr>
          <p:nvPr/>
        </p:nvSpPr>
        <p:spPr>
          <a:xfrm>
            <a:off x="1040731" y="2450714"/>
            <a:ext cx="11151268" cy="41941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500" dirty="0"/>
              <a:t>8 échantillons montés et mesurés: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FR" sz="2500" dirty="0"/>
              <a:t>				300nm  YBCO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FR" sz="2500" dirty="0"/>
              <a:t>			             100 nm  Au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fr-FR" sz="2500" dirty="0"/>
          </a:p>
          <a:p>
            <a:r>
              <a:rPr lang="fr-FR" sz="2500" dirty="0"/>
              <a:t>Méandre pour les champs pulsés</a:t>
            </a:r>
          </a:p>
          <a:p>
            <a:r>
              <a:rPr lang="fr-FR" sz="2500" dirty="0"/>
              <a:t>Centres de piégeage artificiels: excès d’Yttrium formant des nanoparticules d’Y</a:t>
            </a:r>
            <a:r>
              <a:rPr lang="fr-FR" sz="2500" baseline="-25000" dirty="0"/>
              <a:t>2</a:t>
            </a:r>
            <a:r>
              <a:rPr lang="fr-FR" sz="2500" dirty="0"/>
              <a:t>0</a:t>
            </a:r>
            <a:r>
              <a:rPr lang="fr-FR" sz="2500" baseline="-25000" dirty="0"/>
              <a:t>3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fr-FR" sz="2500" dirty="0"/>
          </a:p>
          <a:p>
            <a:pPr marL="0" indent="0">
              <a:buFont typeface="Arial" panose="020B0604020202020204" pitchFamily="34" charset="0"/>
              <a:buNone/>
            </a:pPr>
            <a:endParaRPr lang="fr-FR" sz="25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fr-FR" sz="2500" dirty="0">
                <a:sym typeface="Wingdings" panose="05000000000000000000" pitchFamily="2" charset="2"/>
              </a:rPr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4508659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5B61D96-3DED-4465-BD03-91F2B30EBDEB}"/>
              </a:ext>
            </a:extLst>
          </p:cNvPr>
          <p:cNvSpPr/>
          <p:nvPr/>
        </p:nvSpPr>
        <p:spPr>
          <a:xfrm>
            <a:off x="0" y="0"/>
            <a:ext cx="12192000" cy="42351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3A6068-251C-4982-8461-86E6FEEE7F89}"/>
              </a:ext>
            </a:extLst>
          </p:cNvPr>
          <p:cNvSpPr/>
          <p:nvPr/>
        </p:nvSpPr>
        <p:spPr>
          <a:xfrm>
            <a:off x="6096000" y="0"/>
            <a:ext cx="6096000" cy="423512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3483E8BA-0432-42AC-8FA3-A99D2476E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3262" y="540375"/>
            <a:ext cx="10515600" cy="1325563"/>
          </a:xfrm>
        </p:spPr>
        <p:txBody>
          <a:bodyPr/>
          <a:lstStyle/>
          <a:p>
            <a:r>
              <a:rPr lang="fr-FR" b="1" dirty="0"/>
              <a:t>Méthodes de mesure</a:t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82F25F6A-A736-4A95-A600-13301DF0C4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262" y="1775309"/>
            <a:ext cx="10110537" cy="4014228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Cryostat </a:t>
            </a:r>
            <a:r>
              <a:rPr lang="fr-FR" dirty="0" err="1"/>
              <a:t>cryofree</a:t>
            </a:r>
            <a:r>
              <a:rPr lang="fr-FR" dirty="0"/>
              <a:t> à circulation  He</a:t>
            </a:r>
            <a:r>
              <a:rPr lang="fr-FR" baseline="-25000" dirty="0"/>
              <a:t>4</a:t>
            </a:r>
          </a:p>
          <a:p>
            <a:r>
              <a:rPr lang="fr-FR" dirty="0"/>
              <a:t>1,5K – 300 K</a:t>
            </a:r>
          </a:p>
          <a:p>
            <a:r>
              <a:rPr lang="fr-FR" dirty="0"/>
              <a:t>0 – 12 T (DC)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A7E166D-683E-44CC-9DD5-5E1653517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54B72-9C63-4F24-BB69-DA53AAEBB3A5}" type="slidenum">
              <a:rPr lang="fr-FR" sz="2000" smtClean="0">
                <a:solidFill>
                  <a:schemeClr val="bg1"/>
                </a:solidFill>
              </a:rPr>
              <a:t>9</a:t>
            </a:fld>
            <a:endParaRPr lang="fr-FR" sz="2000" dirty="0">
              <a:solidFill>
                <a:schemeClr val="bg1"/>
              </a:solidFill>
            </a:endParaRPr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55F24D9D-D57A-491C-892F-B55139ED274B}"/>
              </a:ext>
            </a:extLst>
          </p:cNvPr>
          <p:cNvSpPr txBox="1">
            <a:spLocks/>
          </p:cNvSpPr>
          <p:nvPr/>
        </p:nvSpPr>
        <p:spPr>
          <a:xfrm>
            <a:off x="0" y="29512"/>
            <a:ext cx="6096000" cy="39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sz="2000" dirty="0">
                <a:solidFill>
                  <a:schemeClr val="bg1"/>
                </a:solidFill>
              </a:rPr>
              <a:t>					 24/06/2025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AB0CC667-7FA4-4ADA-A8E3-3124B1B570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298913"/>
            <a:ext cx="1524000" cy="1528660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9ECA1248-8B22-416D-A40E-7175A149C4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7193" y="3097871"/>
            <a:ext cx="2354114" cy="3126558"/>
          </a:xfrm>
          <a:prstGeom prst="rect">
            <a:avLst/>
          </a:prstGeom>
        </p:spPr>
      </p:pic>
      <p:pic>
        <p:nvPicPr>
          <p:cNvPr id="13" name="Espace réservé du contenu 5">
            <a:extLst>
              <a:ext uri="{FF2B5EF4-FFF2-40B4-BE49-F238E27FC236}">
                <a16:creationId xmlns:a16="http://schemas.microsoft.com/office/drawing/2014/main" id="{7CF8A707-AD07-4222-8A1F-36101E55DD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5538" y="847061"/>
            <a:ext cx="2743200" cy="3643313"/>
          </a:xfrm>
          <a:prstGeom prst="rect">
            <a:avLst/>
          </a:prstGeom>
        </p:spPr>
      </p:pic>
      <p:sp>
        <p:nvSpPr>
          <p:cNvPr id="14" name="Espace réservé du contenu 10">
            <a:extLst>
              <a:ext uri="{FF2B5EF4-FFF2-40B4-BE49-F238E27FC236}">
                <a16:creationId xmlns:a16="http://schemas.microsoft.com/office/drawing/2014/main" id="{3B780492-E2AD-4FB5-96C8-4B6F3EE9AC16}"/>
              </a:ext>
            </a:extLst>
          </p:cNvPr>
          <p:cNvSpPr txBox="1">
            <a:spLocks/>
          </p:cNvSpPr>
          <p:nvPr/>
        </p:nvSpPr>
        <p:spPr>
          <a:xfrm>
            <a:off x="172263" y="3429000"/>
            <a:ext cx="10110537" cy="40142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dirty="0"/>
              <a:t>Mesure de transport électrique </a:t>
            </a:r>
          </a:p>
          <a:p>
            <a:r>
              <a:rPr lang="fr-FR" dirty="0"/>
              <a:t>R(T), R(H): Lock-in SRS830 DC</a:t>
            </a:r>
          </a:p>
          <a:p>
            <a:pPr marL="0" indent="0">
              <a:buNone/>
            </a:pPr>
            <a:r>
              <a:rPr lang="fr-FR" dirty="0"/>
              <a:t>		Lock-in DAQ pulsé</a:t>
            </a:r>
          </a:p>
          <a:p>
            <a:r>
              <a:rPr lang="fr-FR" dirty="0"/>
              <a:t>I(V): FPGA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15" name="Espace réservé du numéro de diapositive 5">
            <a:extLst>
              <a:ext uri="{FF2B5EF4-FFF2-40B4-BE49-F238E27FC236}">
                <a16:creationId xmlns:a16="http://schemas.microsoft.com/office/drawing/2014/main" id="{44CE882E-0CA6-4E46-B40C-788ABC5655B9}"/>
              </a:ext>
            </a:extLst>
          </p:cNvPr>
          <p:cNvSpPr txBox="1">
            <a:spLocks/>
          </p:cNvSpPr>
          <p:nvPr/>
        </p:nvSpPr>
        <p:spPr>
          <a:xfrm>
            <a:off x="9315650" y="192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4154B72-9C63-4F24-BB69-DA53AAEBB3A5}" type="slidenum">
              <a:rPr lang="fr-FR" sz="2000" smtClean="0">
                <a:solidFill>
                  <a:schemeClr val="bg1"/>
                </a:solidFill>
              </a:rPr>
              <a:pPr/>
              <a:t>9</a:t>
            </a:fld>
            <a:endParaRPr lang="fr-FR" sz="2000" dirty="0">
              <a:solidFill>
                <a:schemeClr val="bg1"/>
              </a:solidFill>
            </a:endParaRP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7EADB187-6A56-4AD0-98C9-AF4362E2E1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5350" y="5065636"/>
            <a:ext cx="3873699" cy="1473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7184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5B61D96-3DED-4465-BD03-91F2B30EBDEB}"/>
              </a:ext>
            </a:extLst>
          </p:cNvPr>
          <p:cNvSpPr/>
          <p:nvPr/>
        </p:nvSpPr>
        <p:spPr>
          <a:xfrm>
            <a:off x="0" y="0"/>
            <a:ext cx="12192000" cy="42351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3A6068-251C-4982-8461-86E6FEEE7F89}"/>
              </a:ext>
            </a:extLst>
          </p:cNvPr>
          <p:cNvSpPr/>
          <p:nvPr/>
        </p:nvSpPr>
        <p:spPr>
          <a:xfrm>
            <a:off x="6096000" y="0"/>
            <a:ext cx="6096000" cy="423512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A7E166D-683E-44CC-9DD5-5E1653517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54B72-9C63-4F24-BB69-DA53AAEBB3A5}" type="slidenum">
              <a:rPr lang="fr-FR" sz="2000" smtClean="0">
                <a:solidFill>
                  <a:schemeClr val="bg1"/>
                </a:solidFill>
              </a:rPr>
              <a:t>10</a:t>
            </a:fld>
            <a:endParaRPr lang="fr-FR" sz="2000" dirty="0">
              <a:solidFill>
                <a:schemeClr val="bg1"/>
              </a:solidFill>
            </a:endParaRPr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55F24D9D-D57A-491C-892F-B55139ED274B}"/>
              </a:ext>
            </a:extLst>
          </p:cNvPr>
          <p:cNvSpPr txBox="1">
            <a:spLocks/>
          </p:cNvSpPr>
          <p:nvPr/>
        </p:nvSpPr>
        <p:spPr>
          <a:xfrm>
            <a:off x="0" y="29512"/>
            <a:ext cx="6096000" cy="39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sz="2000" dirty="0">
                <a:solidFill>
                  <a:schemeClr val="bg1"/>
                </a:solidFill>
              </a:rPr>
              <a:t>					 24/06/2025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AB0CC667-7FA4-4ADA-A8E3-3124B1B570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298913"/>
            <a:ext cx="1524000" cy="1528660"/>
          </a:xfrm>
          <a:prstGeom prst="rect">
            <a:avLst/>
          </a:prstGeom>
        </p:spPr>
      </p:pic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27D80CE0-EF57-427D-A0BE-D3D0D93718A2}"/>
              </a:ext>
            </a:extLst>
          </p:cNvPr>
          <p:cNvSpPr txBox="1">
            <a:spLocks/>
          </p:cNvSpPr>
          <p:nvPr/>
        </p:nvSpPr>
        <p:spPr>
          <a:xfrm>
            <a:off x="9315650" y="192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4154B72-9C63-4F24-BB69-DA53AAEBB3A5}" type="slidenum">
              <a:rPr lang="fr-FR" sz="2000" smtClean="0">
                <a:solidFill>
                  <a:schemeClr val="bg1"/>
                </a:solidFill>
              </a:rPr>
              <a:pPr/>
              <a:t>10</a:t>
            </a:fld>
            <a:endParaRPr lang="fr-FR" sz="2000" dirty="0">
              <a:solidFill>
                <a:schemeClr val="bg1"/>
              </a:solidFill>
            </a:endParaRP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B3ABA847-1E28-4AF5-8D8D-457F171BC5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32859"/>
            <a:ext cx="5852172" cy="4389129"/>
          </a:xfrm>
          <a:prstGeom prst="rect">
            <a:avLst/>
          </a:prstGeom>
        </p:spPr>
      </p:pic>
      <p:sp>
        <p:nvSpPr>
          <p:cNvPr id="18" name="Titre 7">
            <a:extLst>
              <a:ext uri="{FF2B5EF4-FFF2-40B4-BE49-F238E27FC236}">
                <a16:creationId xmlns:a16="http://schemas.microsoft.com/office/drawing/2014/main" id="{B92A464D-E494-41FD-913D-F3DBEBCF044A}"/>
              </a:ext>
            </a:extLst>
          </p:cNvPr>
          <p:cNvSpPr txBox="1">
            <a:spLocks/>
          </p:cNvSpPr>
          <p:nvPr/>
        </p:nvSpPr>
        <p:spPr>
          <a:xfrm>
            <a:off x="1232505" y="28602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b="1" dirty="0"/>
              <a:t>Courbe critique R(T)</a:t>
            </a: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CC26FA3C-FD10-4EC8-84F5-B9B6D99C8E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4514" y="1116731"/>
            <a:ext cx="5852172" cy="438912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D14CBBE-7683-4EB8-9036-604398F96F50}"/>
              </a:ext>
            </a:extLst>
          </p:cNvPr>
          <p:cNvSpPr/>
          <p:nvPr/>
        </p:nvSpPr>
        <p:spPr>
          <a:xfrm>
            <a:off x="1968649" y="3143551"/>
            <a:ext cx="268942" cy="1815724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687280B9-2B73-499F-BBB6-DE98120A2E48}"/>
              </a:ext>
            </a:extLst>
          </p:cNvPr>
          <p:cNvCxnSpPr/>
          <p:nvPr/>
        </p:nvCxnSpPr>
        <p:spPr>
          <a:xfrm flipV="1">
            <a:off x="2237591" y="1611585"/>
            <a:ext cx="4195482" cy="153196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D2FE9B3D-246F-47C5-8BAA-48075B761C3C}"/>
              </a:ext>
            </a:extLst>
          </p:cNvPr>
          <p:cNvCxnSpPr/>
          <p:nvPr/>
        </p:nvCxnSpPr>
        <p:spPr>
          <a:xfrm>
            <a:off x="2237591" y="4959275"/>
            <a:ext cx="4195482" cy="8606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Espace réservé du contenu 10">
            <a:extLst>
              <a:ext uri="{FF2B5EF4-FFF2-40B4-BE49-F238E27FC236}">
                <a16:creationId xmlns:a16="http://schemas.microsoft.com/office/drawing/2014/main" id="{958C9B0F-B4E3-441D-95F1-1EEAD567CE5D}"/>
              </a:ext>
            </a:extLst>
          </p:cNvPr>
          <p:cNvSpPr txBox="1">
            <a:spLocks/>
          </p:cNvSpPr>
          <p:nvPr/>
        </p:nvSpPr>
        <p:spPr>
          <a:xfrm>
            <a:off x="1637568" y="5594750"/>
            <a:ext cx="10110537" cy="40142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dirty="0"/>
              <a:t>I = 1 </a:t>
            </a:r>
            <a:r>
              <a:rPr lang="fr-FR" dirty="0" err="1"/>
              <a:t>uA</a:t>
            </a:r>
            <a:r>
              <a:rPr lang="fr-FR" dirty="0"/>
              <a:t> 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906688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5B61D96-3DED-4465-BD03-91F2B30EBDEB}"/>
              </a:ext>
            </a:extLst>
          </p:cNvPr>
          <p:cNvSpPr/>
          <p:nvPr/>
        </p:nvSpPr>
        <p:spPr>
          <a:xfrm>
            <a:off x="0" y="0"/>
            <a:ext cx="12192000" cy="42351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3A6068-251C-4982-8461-86E6FEEE7F89}"/>
              </a:ext>
            </a:extLst>
          </p:cNvPr>
          <p:cNvSpPr/>
          <p:nvPr/>
        </p:nvSpPr>
        <p:spPr>
          <a:xfrm>
            <a:off x="6096000" y="0"/>
            <a:ext cx="6096000" cy="423512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A7E166D-683E-44CC-9DD5-5E1653517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54B72-9C63-4F24-BB69-DA53AAEBB3A5}" type="slidenum">
              <a:rPr lang="fr-FR" sz="2000" smtClean="0">
                <a:solidFill>
                  <a:schemeClr val="bg1"/>
                </a:solidFill>
              </a:rPr>
              <a:t>11</a:t>
            </a:fld>
            <a:endParaRPr lang="fr-FR" sz="2000" dirty="0">
              <a:solidFill>
                <a:schemeClr val="bg1"/>
              </a:solidFill>
            </a:endParaRPr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55F24D9D-D57A-491C-892F-B55139ED274B}"/>
              </a:ext>
            </a:extLst>
          </p:cNvPr>
          <p:cNvSpPr txBox="1">
            <a:spLocks/>
          </p:cNvSpPr>
          <p:nvPr/>
        </p:nvSpPr>
        <p:spPr>
          <a:xfrm>
            <a:off x="0" y="29512"/>
            <a:ext cx="6096000" cy="39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sz="2000" dirty="0">
                <a:solidFill>
                  <a:schemeClr val="bg1"/>
                </a:solidFill>
              </a:rPr>
              <a:t>					 24/06/2025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AB0CC667-7FA4-4ADA-A8E3-3124B1B570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298913"/>
            <a:ext cx="1524000" cy="1528660"/>
          </a:xfrm>
          <a:prstGeom prst="rect">
            <a:avLst/>
          </a:prstGeom>
        </p:spPr>
      </p:pic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27D80CE0-EF57-427D-A0BE-D3D0D93718A2}"/>
              </a:ext>
            </a:extLst>
          </p:cNvPr>
          <p:cNvSpPr txBox="1">
            <a:spLocks/>
          </p:cNvSpPr>
          <p:nvPr/>
        </p:nvSpPr>
        <p:spPr>
          <a:xfrm>
            <a:off x="9315650" y="192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4154B72-9C63-4F24-BB69-DA53AAEBB3A5}" type="slidenum">
              <a:rPr lang="fr-FR" sz="2000" smtClean="0">
                <a:solidFill>
                  <a:schemeClr val="bg1"/>
                </a:solidFill>
              </a:rPr>
              <a:pPr/>
              <a:t>11</a:t>
            </a:fld>
            <a:endParaRPr lang="fr-FR" sz="2000" dirty="0">
              <a:solidFill>
                <a:schemeClr val="bg1"/>
              </a:solidFill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CCB79909-91B6-4CF6-8693-8FAA0305AEB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810"/>
          <a:stretch/>
        </p:blipFill>
        <p:spPr>
          <a:xfrm>
            <a:off x="88235" y="846403"/>
            <a:ext cx="7708229" cy="6022467"/>
          </a:xfrm>
          <a:prstGeom prst="rect">
            <a:avLst/>
          </a:prstGeom>
        </p:spPr>
      </p:pic>
      <p:sp>
        <p:nvSpPr>
          <p:cNvPr id="18" name="Titre 7">
            <a:extLst>
              <a:ext uri="{FF2B5EF4-FFF2-40B4-BE49-F238E27FC236}">
                <a16:creationId xmlns:a16="http://schemas.microsoft.com/office/drawing/2014/main" id="{B92A464D-E494-41FD-913D-F3DBEBCF044A}"/>
              </a:ext>
            </a:extLst>
          </p:cNvPr>
          <p:cNvSpPr txBox="1">
            <a:spLocks/>
          </p:cNvSpPr>
          <p:nvPr/>
        </p:nvSpPr>
        <p:spPr>
          <a:xfrm>
            <a:off x="1232505" y="28602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b="1" dirty="0"/>
              <a:t>Courbe critique R(T)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37103861-BE8D-4960-834F-E220127FF5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5504" y="1228447"/>
            <a:ext cx="1102736" cy="735156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8D2B574B-7665-440A-82AB-7856517C5D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5555" y="5469590"/>
            <a:ext cx="1395285" cy="868436"/>
          </a:xfrm>
          <a:prstGeom prst="rect">
            <a:avLst/>
          </a:prstGeom>
        </p:spPr>
      </p:pic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A6954ED8-1FE1-4491-ADC1-C66234E2AE59}"/>
              </a:ext>
            </a:extLst>
          </p:cNvPr>
          <p:cNvCxnSpPr/>
          <p:nvPr/>
        </p:nvCxnSpPr>
        <p:spPr>
          <a:xfrm flipH="1">
            <a:off x="7459579" y="1501541"/>
            <a:ext cx="336885" cy="21175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1D3FB9A4-B6CF-4008-85E6-E6C814A1B8CA}"/>
              </a:ext>
            </a:extLst>
          </p:cNvPr>
          <p:cNvCxnSpPr>
            <a:cxnSpLocks/>
          </p:cNvCxnSpPr>
          <p:nvPr/>
        </p:nvCxnSpPr>
        <p:spPr>
          <a:xfrm flipH="1">
            <a:off x="6833936" y="5903808"/>
            <a:ext cx="1090869" cy="10778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Espace réservé du contenu 10">
            <a:extLst>
              <a:ext uri="{FF2B5EF4-FFF2-40B4-BE49-F238E27FC236}">
                <a16:creationId xmlns:a16="http://schemas.microsoft.com/office/drawing/2014/main" id="{DA8E749E-99F1-4266-9653-DA506F96FB56}"/>
              </a:ext>
            </a:extLst>
          </p:cNvPr>
          <p:cNvSpPr txBox="1">
            <a:spLocks/>
          </p:cNvSpPr>
          <p:nvPr/>
        </p:nvSpPr>
        <p:spPr>
          <a:xfrm>
            <a:off x="8909738" y="3507224"/>
            <a:ext cx="1260831" cy="61994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dirty="0"/>
              <a:t>I = 1 </a:t>
            </a:r>
            <a:r>
              <a:rPr lang="fr-FR" dirty="0" err="1"/>
              <a:t>uA</a:t>
            </a:r>
            <a:r>
              <a:rPr lang="fr-FR" dirty="0"/>
              <a:t> 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675AF02-EC60-4E5C-BEB8-21B349C15CB8}"/>
              </a:ext>
            </a:extLst>
          </p:cNvPr>
          <p:cNvSpPr/>
          <p:nvPr/>
        </p:nvSpPr>
        <p:spPr>
          <a:xfrm>
            <a:off x="1795346" y="1611585"/>
            <a:ext cx="735981" cy="2860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1F9ECAD-FBAA-485F-8274-300E868F6BE2}"/>
              </a:ext>
            </a:extLst>
          </p:cNvPr>
          <p:cNvSpPr txBox="1"/>
          <p:nvPr/>
        </p:nvSpPr>
        <p:spPr>
          <a:xfrm>
            <a:off x="4519493" y="1963603"/>
            <a:ext cx="9196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/>
              <a:t>99%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26334139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E1BC78D3-0EE3-417D-BF01-FB5F229BC7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6270" y="1166679"/>
            <a:ext cx="7668102" cy="575107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5B61D96-3DED-4465-BD03-91F2B30EBDEB}"/>
              </a:ext>
            </a:extLst>
          </p:cNvPr>
          <p:cNvSpPr/>
          <p:nvPr/>
        </p:nvSpPr>
        <p:spPr>
          <a:xfrm>
            <a:off x="0" y="0"/>
            <a:ext cx="12192000" cy="42351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3A6068-251C-4982-8461-86E6FEEE7F89}"/>
              </a:ext>
            </a:extLst>
          </p:cNvPr>
          <p:cNvSpPr/>
          <p:nvPr/>
        </p:nvSpPr>
        <p:spPr>
          <a:xfrm>
            <a:off x="6096000" y="0"/>
            <a:ext cx="6096000" cy="423512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55F24D9D-D57A-491C-892F-B55139ED274B}"/>
              </a:ext>
            </a:extLst>
          </p:cNvPr>
          <p:cNvSpPr txBox="1">
            <a:spLocks/>
          </p:cNvSpPr>
          <p:nvPr/>
        </p:nvSpPr>
        <p:spPr>
          <a:xfrm>
            <a:off x="0" y="29512"/>
            <a:ext cx="6096000" cy="39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sz="2000" dirty="0">
                <a:solidFill>
                  <a:schemeClr val="bg1"/>
                </a:solidFill>
              </a:rPr>
              <a:t>					 24/06/2025</a:t>
            </a:r>
          </a:p>
        </p:txBody>
      </p:sp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27D80CE0-EF57-427D-A0BE-D3D0D93718A2}"/>
              </a:ext>
            </a:extLst>
          </p:cNvPr>
          <p:cNvSpPr txBox="1">
            <a:spLocks/>
          </p:cNvSpPr>
          <p:nvPr/>
        </p:nvSpPr>
        <p:spPr>
          <a:xfrm>
            <a:off x="9315650" y="192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4154B72-9C63-4F24-BB69-DA53AAEBB3A5}" type="slidenum">
              <a:rPr lang="fr-FR" sz="2000" smtClean="0">
                <a:solidFill>
                  <a:schemeClr val="bg1"/>
                </a:solidFill>
              </a:rPr>
              <a:pPr/>
              <a:t>12</a:t>
            </a:fld>
            <a:endParaRPr lang="fr-FR" sz="2000" dirty="0">
              <a:solidFill>
                <a:schemeClr val="bg1"/>
              </a:solidFill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E8DBA033-D651-48E9-9EE4-95EE83246CC0}"/>
              </a:ext>
            </a:extLst>
          </p:cNvPr>
          <p:cNvSpPr txBox="1"/>
          <p:nvPr/>
        </p:nvSpPr>
        <p:spPr>
          <a:xfrm>
            <a:off x="8531205" y="705014"/>
            <a:ext cx="31507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Bonne reproductibilité pour les échantillons larges (W=40um) S3, S5, S6,S8,S9 </a:t>
            </a:r>
          </a:p>
        </p:txBody>
      </p:sp>
      <p:sp>
        <p:nvSpPr>
          <p:cNvPr id="27" name="Titre 7">
            <a:extLst>
              <a:ext uri="{FF2B5EF4-FFF2-40B4-BE49-F238E27FC236}">
                <a16:creationId xmlns:a16="http://schemas.microsoft.com/office/drawing/2014/main" id="{9341578D-5CBA-4C56-9FEB-7AA0F1FCE785}"/>
              </a:ext>
            </a:extLst>
          </p:cNvPr>
          <p:cNvSpPr txBox="1">
            <a:spLocks/>
          </p:cNvSpPr>
          <p:nvPr/>
        </p:nvSpPr>
        <p:spPr>
          <a:xfrm>
            <a:off x="1243262" y="54037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b="1" dirty="0"/>
              <a:t>Courbe H</a:t>
            </a:r>
            <a:r>
              <a:rPr lang="fr-FR" sz="4000" b="1" dirty="0"/>
              <a:t>c2</a:t>
            </a:r>
            <a:r>
              <a:rPr lang="fr-FR" b="1" dirty="0"/>
              <a:t> et </a:t>
            </a:r>
            <a:r>
              <a:rPr lang="fr-FR" b="1" dirty="0" err="1"/>
              <a:t>H</a:t>
            </a:r>
            <a:r>
              <a:rPr lang="fr-FR" b="1" baseline="-25000" dirty="0" err="1"/>
              <a:t>irr</a:t>
            </a:r>
            <a:endParaRPr lang="fr-FR" b="1" baseline="-25000" dirty="0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AD21185D-EDA8-4E73-BB6F-5D6845CEBC99}"/>
              </a:ext>
            </a:extLst>
          </p:cNvPr>
          <p:cNvSpPr txBox="1"/>
          <p:nvPr/>
        </p:nvSpPr>
        <p:spPr>
          <a:xfrm>
            <a:off x="6675258" y="1023974"/>
            <a:ext cx="26403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H</a:t>
            </a:r>
            <a:r>
              <a:rPr lang="fr-FR" sz="2400" baseline="-25000" dirty="0"/>
              <a:t>c2</a:t>
            </a:r>
            <a:r>
              <a:rPr lang="fr-FR" sz="2400" dirty="0"/>
              <a:t> (99%)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03D6B4E9-B11E-4B0D-A19A-30375CE875C2}"/>
              </a:ext>
            </a:extLst>
          </p:cNvPr>
          <p:cNvSpPr txBox="1"/>
          <p:nvPr/>
        </p:nvSpPr>
        <p:spPr>
          <a:xfrm>
            <a:off x="-478220" y="1922916"/>
            <a:ext cx="39151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 err="1"/>
              <a:t>H</a:t>
            </a:r>
            <a:r>
              <a:rPr lang="fr-FR" sz="2400" baseline="-25000" dirty="0" err="1"/>
              <a:t>irr</a:t>
            </a:r>
            <a:r>
              <a:rPr lang="fr-FR" sz="2400" dirty="0"/>
              <a:t> (1%)</a:t>
            </a:r>
          </a:p>
        </p:txBody>
      </p: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A3A89608-96D5-47C2-883D-CF144E3B005F}"/>
              </a:ext>
            </a:extLst>
          </p:cNvPr>
          <p:cNvCxnSpPr>
            <a:cxnSpLocks/>
          </p:cNvCxnSpPr>
          <p:nvPr/>
        </p:nvCxnSpPr>
        <p:spPr>
          <a:xfrm flipH="1">
            <a:off x="6246715" y="1347537"/>
            <a:ext cx="351588" cy="37871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Connecteur droit avec flèche 24">
            <a:extLst>
              <a:ext uri="{FF2B5EF4-FFF2-40B4-BE49-F238E27FC236}">
                <a16:creationId xmlns:a16="http://schemas.microsoft.com/office/drawing/2014/main" id="{33186C21-3CA2-491D-9085-94DF2DC16227}"/>
              </a:ext>
            </a:extLst>
          </p:cNvPr>
          <p:cNvCxnSpPr>
            <a:cxnSpLocks/>
          </p:cNvCxnSpPr>
          <p:nvPr/>
        </p:nvCxnSpPr>
        <p:spPr>
          <a:xfrm>
            <a:off x="2117558" y="2153748"/>
            <a:ext cx="808522" cy="17385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ZoneTexte 16">
            <a:extLst>
              <a:ext uri="{FF2B5EF4-FFF2-40B4-BE49-F238E27FC236}">
                <a16:creationId xmlns:a16="http://schemas.microsoft.com/office/drawing/2014/main" id="{79260B00-5A42-4024-8623-99FF97CB1820}"/>
              </a:ext>
            </a:extLst>
          </p:cNvPr>
          <p:cNvSpPr txBox="1"/>
          <p:nvPr/>
        </p:nvSpPr>
        <p:spPr>
          <a:xfrm>
            <a:off x="4977791" y="3474420"/>
            <a:ext cx="1956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Vortex </a:t>
            </a:r>
            <a:r>
              <a:rPr lang="fr-FR" b="1" dirty="0" err="1">
                <a:solidFill>
                  <a:srgbClr val="FF0000"/>
                </a:solidFill>
              </a:rPr>
              <a:t>depiégés</a:t>
            </a:r>
            <a:endParaRPr lang="fr-FR" b="1" dirty="0">
              <a:solidFill>
                <a:srgbClr val="FF0000"/>
              </a:solidFill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BA427184-46C1-4258-A14F-B39EA0FF2E6F}"/>
              </a:ext>
            </a:extLst>
          </p:cNvPr>
          <p:cNvSpPr txBox="1"/>
          <p:nvPr/>
        </p:nvSpPr>
        <p:spPr>
          <a:xfrm>
            <a:off x="3507441" y="5410924"/>
            <a:ext cx="2448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Vortex piégés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F0CEBF64-FC7C-4FBF-B893-E233498D4D2D}"/>
              </a:ext>
            </a:extLst>
          </p:cNvPr>
          <p:cNvSpPr txBox="1"/>
          <p:nvPr/>
        </p:nvSpPr>
        <p:spPr>
          <a:xfrm>
            <a:off x="7779233" y="4273094"/>
            <a:ext cx="11737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Etat normal</a:t>
            </a:r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88617560-2377-4C25-BAB4-E2A774070D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9340"/>
            <a:ext cx="1524000" cy="1528660"/>
          </a:xfrm>
          <a:prstGeom prst="rect">
            <a:avLst/>
          </a:prstGeom>
        </p:spPr>
      </p:pic>
      <p:sp>
        <p:nvSpPr>
          <p:cNvPr id="28" name="ZoneTexte 27">
            <a:extLst>
              <a:ext uri="{FF2B5EF4-FFF2-40B4-BE49-F238E27FC236}">
                <a16:creationId xmlns:a16="http://schemas.microsoft.com/office/drawing/2014/main" id="{A1C40D7E-E58B-41AE-9A27-528001508F28}"/>
              </a:ext>
            </a:extLst>
          </p:cNvPr>
          <p:cNvSpPr txBox="1"/>
          <p:nvPr/>
        </p:nvSpPr>
        <p:spPr>
          <a:xfrm>
            <a:off x="6675258" y="6478794"/>
            <a:ext cx="31507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/>
              <a:t>Tc</a:t>
            </a:r>
          </a:p>
        </p:txBody>
      </p:sp>
    </p:spTree>
    <p:extLst>
      <p:ext uri="{BB962C8B-B14F-4D97-AF65-F5344CB8AC3E}">
        <p14:creationId xmlns:p14="http://schemas.microsoft.com/office/powerpoint/2010/main" val="6626773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628EFF7-2816-4A1D-8E77-8D19EFCD7E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3273" y="849379"/>
            <a:ext cx="7885454" cy="591409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5B61D96-3DED-4465-BD03-91F2B30EBDEB}"/>
              </a:ext>
            </a:extLst>
          </p:cNvPr>
          <p:cNvSpPr/>
          <p:nvPr/>
        </p:nvSpPr>
        <p:spPr>
          <a:xfrm>
            <a:off x="0" y="0"/>
            <a:ext cx="12192000" cy="42351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3A6068-251C-4982-8461-86E6FEEE7F89}"/>
              </a:ext>
            </a:extLst>
          </p:cNvPr>
          <p:cNvSpPr/>
          <p:nvPr/>
        </p:nvSpPr>
        <p:spPr>
          <a:xfrm>
            <a:off x="6096000" y="0"/>
            <a:ext cx="6096000" cy="423512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55F24D9D-D57A-491C-892F-B55139ED274B}"/>
              </a:ext>
            </a:extLst>
          </p:cNvPr>
          <p:cNvSpPr txBox="1">
            <a:spLocks/>
          </p:cNvSpPr>
          <p:nvPr/>
        </p:nvSpPr>
        <p:spPr>
          <a:xfrm>
            <a:off x="0" y="29512"/>
            <a:ext cx="6096000" cy="39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sz="2000" dirty="0">
                <a:solidFill>
                  <a:schemeClr val="bg1"/>
                </a:solidFill>
              </a:rPr>
              <a:t>					 24/06/2025</a:t>
            </a:r>
          </a:p>
        </p:txBody>
      </p:sp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27D80CE0-EF57-427D-A0BE-D3D0D93718A2}"/>
              </a:ext>
            </a:extLst>
          </p:cNvPr>
          <p:cNvSpPr txBox="1">
            <a:spLocks/>
          </p:cNvSpPr>
          <p:nvPr/>
        </p:nvSpPr>
        <p:spPr>
          <a:xfrm>
            <a:off x="9315650" y="192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4154B72-9C63-4F24-BB69-DA53AAEBB3A5}" type="slidenum">
              <a:rPr lang="fr-FR" sz="2000" smtClean="0">
                <a:solidFill>
                  <a:schemeClr val="bg1"/>
                </a:solidFill>
              </a:rPr>
              <a:pPr/>
              <a:t>13</a:t>
            </a:fld>
            <a:endParaRPr lang="fr-FR" sz="2000" dirty="0">
              <a:solidFill>
                <a:schemeClr val="bg1"/>
              </a:solidFill>
            </a:endParaRPr>
          </a:p>
        </p:txBody>
      </p:sp>
      <p:sp>
        <p:nvSpPr>
          <p:cNvPr id="27" name="Titre 7">
            <a:extLst>
              <a:ext uri="{FF2B5EF4-FFF2-40B4-BE49-F238E27FC236}">
                <a16:creationId xmlns:a16="http://schemas.microsoft.com/office/drawing/2014/main" id="{9341578D-5CBA-4C56-9FEB-7AA0F1FCE785}"/>
              </a:ext>
            </a:extLst>
          </p:cNvPr>
          <p:cNvSpPr txBox="1">
            <a:spLocks/>
          </p:cNvSpPr>
          <p:nvPr/>
        </p:nvSpPr>
        <p:spPr>
          <a:xfrm>
            <a:off x="1098883" y="18659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b="1" dirty="0"/>
              <a:t>Courbe H</a:t>
            </a:r>
            <a:r>
              <a:rPr lang="fr-FR" sz="4000" b="1" dirty="0"/>
              <a:t>c2</a:t>
            </a:r>
            <a:r>
              <a:rPr lang="fr-FR" b="1" dirty="0"/>
              <a:t> et </a:t>
            </a:r>
            <a:r>
              <a:rPr lang="fr-FR" b="1" dirty="0" err="1"/>
              <a:t>H</a:t>
            </a:r>
            <a:r>
              <a:rPr lang="fr-FR" b="1" baseline="-25000" dirty="0" err="1"/>
              <a:t>irr</a:t>
            </a:r>
            <a:r>
              <a:rPr lang="fr-FR" b="1" baseline="-25000" dirty="0"/>
              <a:t> </a:t>
            </a:r>
            <a:r>
              <a:rPr lang="fr-FR" b="1" dirty="0"/>
              <a:t>en champ pulsé</a:t>
            </a:r>
            <a:endParaRPr lang="fr-FR" b="1" baseline="-25000" dirty="0"/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88617560-2377-4C25-BAB4-E2A774070D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9340"/>
            <a:ext cx="1524000" cy="1528660"/>
          </a:xfrm>
          <a:prstGeom prst="rect">
            <a:avLst/>
          </a:prstGeom>
        </p:spPr>
      </p:pic>
      <p:sp>
        <p:nvSpPr>
          <p:cNvPr id="23" name="ZoneTexte 22">
            <a:extLst>
              <a:ext uri="{FF2B5EF4-FFF2-40B4-BE49-F238E27FC236}">
                <a16:creationId xmlns:a16="http://schemas.microsoft.com/office/drawing/2014/main" id="{BC94B9BD-124A-4FFA-A4CA-A8CFF8416EFB}"/>
              </a:ext>
            </a:extLst>
          </p:cNvPr>
          <p:cNvSpPr txBox="1"/>
          <p:nvPr/>
        </p:nvSpPr>
        <p:spPr>
          <a:xfrm>
            <a:off x="4139620" y="3768483"/>
            <a:ext cx="1956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Vortex </a:t>
            </a:r>
            <a:r>
              <a:rPr lang="fr-FR" b="1" dirty="0" err="1">
                <a:solidFill>
                  <a:srgbClr val="FF0000"/>
                </a:solidFill>
              </a:rPr>
              <a:t>depiégés</a:t>
            </a:r>
            <a:endParaRPr lang="fr-FR" b="1" dirty="0">
              <a:solidFill>
                <a:srgbClr val="FF0000"/>
              </a:solidFill>
            </a:endParaRP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50AC7517-AD03-4A7B-9F09-D17004241E8A}"/>
              </a:ext>
            </a:extLst>
          </p:cNvPr>
          <p:cNvSpPr txBox="1"/>
          <p:nvPr/>
        </p:nvSpPr>
        <p:spPr>
          <a:xfrm>
            <a:off x="3440064" y="4960008"/>
            <a:ext cx="2448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Vortex piégés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46E60EBD-CC46-4326-B011-11FF9C794D3E}"/>
              </a:ext>
            </a:extLst>
          </p:cNvPr>
          <p:cNvSpPr txBox="1"/>
          <p:nvPr/>
        </p:nvSpPr>
        <p:spPr>
          <a:xfrm>
            <a:off x="6489448" y="1889394"/>
            <a:ext cx="11737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Etat normal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D3FEABF3-7A07-4F75-82E5-557170AB2F86}"/>
              </a:ext>
            </a:extLst>
          </p:cNvPr>
          <p:cNvSpPr txBox="1"/>
          <p:nvPr/>
        </p:nvSpPr>
        <p:spPr>
          <a:xfrm>
            <a:off x="5022771" y="2074060"/>
            <a:ext cx="26403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H</a:t>
            </a:r>
            <a:r>
              <a:rPr lang="fr-FR" sz="2400" baseline="-25000" dirty="0"/>
              <a:t>c2</a:t>
            </a:r>
            <a:r>
              <a:rPr lang="fr-FR" sz="2400" dirty="0"/>
              <a:t> (99%)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5EFAD890-E25F-48C9-BBFC-970ACF48E0AB}"/>
              </a:ext>
            </a:extLst>
          </p:cNvPr>
          <p:cNvSpPr txBox="1"/>
          <p:nvPr/>
        </p:nvSpPr>
        <p:spPr>
          <a:xfrm>
            <a:off x="-699601" y="2995846"/>
            <a:ext cx="39151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 err="1"/>
              <a:t>H</a:t>
            </a:r>
            <a:r>
              <a:rPr lang="fr-FR" sz="2400" baseline="-25000" dirty="0" err="1"/>
              <a:t>irr</a:t>
            </a:r>
            <a:r>
              <a:rPr lang="fr-FR" sz="2400" dirty="0"/>
              <a:t> (1%)</a:t>
            </a:r>
          </a:p>
        </p:txBody>
      </p:sp>
      <p:cxnSp>
        <p:nvCxnSpPr>
          <p:cNvPr id="33" name="Connecteur droit avec flèche 32">
            <a:extLst>
              <a:ext uri="{FF2B5EF4-FFF2-40B4-BE49-F238E27FC236}">
                <a16:creationId xmlns:a16="http://schemas.microsoft.com/office/drawing/2014/main" id="{6C1CBCAA-9764-462D-A0BC-A42C7DFC34CF}"/>
              </a:ext>
            </a:extLst>
          </p:cNvPr>
          <p:cNvCxnSpPr>
            <a:cxnSpLocks/>
          </p:cNvCxnSpPr>
          <p:nvPr/>
        </p:nvCxnSpPr>
        <p:spPr>
          <a:xfrm>
            <a:off x="5378493" y="2608446"/>
            <a:ext cx="32753" cy="46905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Connecteur droit avec flèche 33">
            <a:extLst>
              <a:ext uri="{FF2B5EF4-FFF2-40B4-BE49-F238E27FC236}">
                <a16:creationId xmlns:a16="http://schemas.microsoft.com/office/drawing/2014/main" id="{E37EE8D3-4210-44A7-A057-972456A1D4F3}"/>
              </a:ext>
            </a:extLst>
          </p:cNvPr>
          <p:cNvCxnSpPr>
            <a:cxnSpLocks/>
          </p:cNvCxnSpPr>
          <p:nvPr/>
        </p:nvCxnSpPr>
        <p:spPr>
          <a:xfrm>
            <a:off x="1896177" y="3226678"/>
            <a:ext cx="808522" cy="17385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83478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13">
            <a:extLst>
              <a:ext uri="{FF2B5EF4-FFF2-40B4-BE49-F238E27FC236}">
                <a16:creationId xmlns:a16="http://schemas.microsoft.com/office/drawing/2014/main" id="{E9DCC476-44C2-4DD8-8D91-9B4DAFFB3E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6713" y="2572995"/>
            <a:ext cx="5658882" cy="4244162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2E91A344-B4CD-46C9-88DA-4CD9692732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2552" y="2716591"/>
            <a:ext cx="5489717" cy="407163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5B61D96-3DED-4465-BD03-91F2B30EBDEB}"/>
              </a:ext>
            </a:extLst>
          </p:cNvPr>
          <p:cNvSpPr/>
          <p:nvPr/>
        </p:nvSpPr>
        <p:spPr>
          <a:xfrm>
            <a:off x="0" y="0"/>
            <a:ext cx="12192000" cy="42351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3A6068-251C-4982-8461-86E6FEEE7F89}"/>
              </a:ext>
            </a:extLst>
          </p:cNvPr>
          <p:cNvSpPr/>
          <p:nvPr/>
        </p:nvSpPr>
        <p:spPr>
          <a:xfrm>
            <a:off x="6096000" y="0"/>
            <a:ext cx="6096000" cy="423512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55F24D9D-D57A-491C-892F-B55139ED274B}"/>
              </a:ext>
            </a:extLst>
          </p:cNvPr>
          <p:cNvSpPr txBox="1">
            <a:spLocks/>
          </p:cNvSpPr>
          <p:nvPr/>
        </p:nvSpPr>
        <p:spPr>
          <a:xfrm>
            <a:off x="0" y="29512"/>
            <a:ext cx="6096000" cy="39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sz="2000" dirty="0">
                <a:solidFill>
                  <a:schemeClr val="bg1"/>
                </a:solidFill>
              </a:rPr>
              <a:t>					 24/06/2025</a:t>
            </a:r>
          </a:p>
        </p:txBody>
      </p:sp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27D80CE0-EF57-427D-A0BE-D3D0D93718A2}"/>
              </a:ext>
            </a:extLst>
          </p:cNvPr>
          <p:cNvSpPr txBox="1">
            <a:spLocks/>
          </p:cNvSpPr>
          <p:nvPr/>
        </p:nvSpPr>
        <p:spPr>
          <a:xfrm>
            <a:off x="9315650" y="192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4154B72-9C63-4F24-BB69-DA53AAEBB3A5}" type="slidenum">
              <a:rPr lang="fr-FR" sz="2000" smtClean="0">
                <a:solidFill>
                  <a:schemeClr val="bg1"/>
                </a:solidFill>
              </a:rPr>
              <a:pPr/>
              <a:t>14</a:t>
            </a:fld>
            <a:endParaRPr lang="fr-FR" sz="2000" dirty="0">
              <a:solidFill>
                <a:schemeClr val="bg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052A2C-DD1F-47DF-A955-31C8AAF9E3DA}"/>
              </a:ext>
            </a:extLst>
          </p:cNvPr>
          <p:cNvSpPr/>
          <p:nvPr/>
        </p:nvSpPr>
        <p:spPr>
          <a:xfrm>
            <a:off x="1155033" y="3149754"/>
            <a:ext cx="250260" cy="245952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332FC706-410D-4D3E-A86C-A921D1EA0951}"/>
              </a:ext>
            </a:extLst>
          </p:cNvPr>
          <p:cNvCxnSpPr>
            <a:cxnSpLocks/>
          </p:cNvCxnSpPr>
          <p:nvPr/>
        </p:nvCxnSpPr>
        <p:spPr>
          <a:xfrm flipV="1">
            <a:off x="1405293" y="2840631"/>
            <a:ext cx="4734838" cy="26278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C79EB0C1-6048-4ED6-A16C-A75C0051EFAF}"/>
              </a:ext>
            </a:extLst>
          </p:cNvPr>
          <p:cNvCxnSpPr>
            <a:cxnSpLocks/>
          </p:cNvCxnSpPr>
          <p:nvPr/>
        </p:nvCxnSpPr>
        <p:spPr>
          <a:xfrm>
            <a:off x="1422943" y="3429000"/>
            <a:ext cx="4648156" cy="272408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847D189C-9FD8-4156-8BEC-AF8D1AD11558}"/>
              </a:ext>
            </a:extLst>
          </p:cNvPr>
          <p:cNvSpPr/>
          <p:nvPr/>
        </p:nvSpPr>
        <p:spPr>
          <a:xfrm>
            <a:off x="5252177" y="6387221"/>
            <a:ext cx="606392" cy="1732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F5FA9A7-F889-4DCC-863C-42F657A8E91F}"/>
              </a:ext>
            </a:extLst>
          </p:cNvPr>
          <p:cNvSpPr/>
          <p:nvPr/>
        </p:nvSpPr>
        <p:spPr>
          <a:xfrm>
            <a:off x="6155345" y="6395244"/>
            <a:ext cx="206951" cy="1732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B188E29-9734-4051-A4F2-4992CF3FA975}"/>
              </a:ext>
            </a:extLst>
          </p:cNvPr>
          <p:cNvSpPr/>
          <p:nvPr/>
        </p:nvSpPr>
        <p:spPr>
          <a:xfrm>
            <a:off x="6760131" y="6384019"/>
            <a:ext cx="206951" cy="1732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F8896D5-C88F-4B6A-B974-D1D9BB8B6003}"/>
              </a:ext>
            </a:extLst>
          </p:cNvPr>
          <p:cNvSpPr/>
          <p:nvPr/>
        </p:nvSpPr>
        <p:spPr>
          <a:xfrm>
            <a:off x="7356902" y="6393644"/>
            <a:ext cx="206951" cy="1732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4C8C566-EC19-4A99-A140-65BC131ABEAE}"/>
              </a:ext>
            </a:extLst>
          </p:cNvPr>
          <p:cNvSpPr/>
          <p:nvPr/>
        </p:nvSpPr>
        <p:spPr>
          <a:xfrm>
            <a:off x="8550436" y="6393641"/>
            <a:ext cx="206951" cy="1732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545DD2E-E740-4461-87B7-D4EC5A336C8B}"/>
              </a:ext>
            </a:extLst>
          </p:cNvPr>
          <p:cNvSpPr/>
          <p:nvPr/>
        </p:nvSpPr>
        <p:spPr>
          <a:xfrm>
            <a:off x="9156827" y="6384018"/>
            <a:ext cx="206951" cy="1732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Titre 7">
            <a:extLst>
              <a:ext uri="{FF2B5EF4-FFF2-40B4-BE49-F238E27FC236}">
                <a16:creationId xmlns:a16="http://schemas.microsoft.com/office/drawing/2014/main" id="{4998492F-29D6-4C5D-8382-5A5123DB9278}"/>
              </a:ext>
            </a:extLst>
          </p:cNvPr>
          <p:cNvSpPr txBox="1">
            <a:spLocks/>
          </p:cNvSpPr>
          <p:nvPr/>
        </p:nvSpPr>
        <p:spPr>
          <a:xfrm>
            <a:off x="388166" y="27767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b="1" dirty="0"/>
              <a:t>Mesure I-V en champ pulsé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0DAC7104-80AA-4EE2-9B2F-D60F24506301}"/>
              </a:ext>
            </a:extLst>
          </p:cNvPr>
          <p:cNvSpPr txBox="1"/>
          <p:nvPr/>
        </p:nvSpPr>
        <p:spPr>
          <a:xfrm>
            <a:off x="450431" y="1648099"/>
            <a:ext cx="95317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/>
              <a:t>Pulse de ~200 msec =&gt; Mesures I-V rapides (qq 100 us)</a:t>
            </a: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C418CE97-9E9E-47A8-BD72-04B760BF1BA8}"/>
              </a:ext>
            </a:extLst>
          </p:cNvPr>
          <p:cNvCxnSpPr>
            <a:cxnSpLocks/>
          </p:cNvCxnSpPr>
          <p:nvPr/>
        </p:nvCxnSpPr>
        <p:spPr>
          <a:xfrm>
            <a:off x="10530040" y="2921960"/>
            <a:ext cx="962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7948EBB5-2ED2-49AB-B6C8-6E30AA3FDA28}"/>
              </a:ext>
            </a:extLst>
          </p:cNvPr>
          <p:cNvCxnSpPr>
            <a:cxnSpLocks/>
          </p:cNvCxnSpPr>
          <p:nvPr/>
        </p:nvCxnSpPr>
        <p:spPr>
          <a:xfrm>
            <a:off x="10518814" y="3488244"/>
            <a:ext cx="962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465B0728-A00B-41B8-8E05-ECD6CA91C327}"/>
              </a:ext>
            </a:extLst>
          </p:cNvPr>
          <p:cNvCxnSpPr>
            <a:cxnSpLocks/>
          </p:cNvCxnSpPr>
          <p:nvPr/>
        </p:nvCxnSpPr>
        <p:spPr>
          <a:xfrm>
            <a:off x="10528437" y="4073782"/>
            <a:ext cx="962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Connecteur droit 38">
            <a:extLst>
              <a:ext uri="{FF2B5EF4-FFF2-40B4-BE49-F238E27FC236}">
                <a16:creationId xmlns:a16="http://schemas.microsoft.com/office/drawing/2014/main" id="{A8F8600E-5E3C-44E0-A243-DFC23D117F4E}"/>
              </a:ext>
            </a:extLst>
          </p:cNvPr>
          <p:cNvCxnSpPr>
            <a:cxnSpLocks/>
          </p:cNvCxnSpPr>
          <p:nvPr/>
        </p:nvCxnSpPr>
        <p:spPr>
          <a:xfrm>
            <a:off x="10528438" y="4681778"/>
            <a:ext cx="962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Connecteur droit 39">
            <a:extLst>
              <a:ext uri="{FF2B5EF4-FFF2-40B4-BE49-F238E27FC236}">
                <a16:creationId xmlns:a16="http://schemas.microsoft.com/office/drawing/2014/main" id="{58835A65-CD9B-43B3-96FD-F59FA1199C11}"/>
              </a:ext>
            </a:extLst>
          </p:cNvPr>
          <p:cNvCxnSpPr>
            <a:cxnSpLocks/>
          </p:cNvCxnSpPr>
          <p:nvPr/>
        </p:nvCxnSpPr>
        <p:spPr>
          <a:xfrm>
            <a:off x="10528437" y="5268924"/>
            <a:ext cx="962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Connecteur droit 40">
            <a:extLst>
              <a:ext uri="{FF2B5EF4-FFF2-40B4-BE49-F238E27FC236}">
                <a16:creationId xmlns:a16="http://schemas.microsoft.com/office/drawing/2014/main" id="{B0063E3C-A596-445A-B0CE-5633992CA846}"/>
              </a:ext>
            </a:extLst>
          </p:cNvPr>
          <p:cNvCxnSpPr>
            <a:cxnSpLocks/>
          </p:cNvCxnSpPr>
          <p:nvPr/>
        </p:nvCxnSpPr>
        <p:spPr>
          <a:xfrm>
            <a:off x="10538063" y="5846438"/>
            <a:ext cx="962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ZoneTexte 12">
            <a:extLst>
              <a:ext uri="{FF2B5EF4-FFF2-40B4-BE49-F238E27FC236}">
                <a16:creationId xmlns:a16="http://schemas.microsoft.com/office/drawing/2014/main" id="{8B6125B7-0FD0-4FEF-A67D-BD3683DD259B}"/>
              </a:ext>
            </a:extLst>
          </p:cNvPr>
          <p:cNvSpPr txBox="1"/>
          <p:nvPr/>
        </p:nvSpPr>
        <p:spPr>
          <a:xfrm>
            <a:off x="10634313" y="5661772"/>
            <a:ext cx="1087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0.0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EB1F52C0-10E3-44F2-9704-E50549589247}"/>
              </a:ext>
            </a:extLst>
          </p:cNvPr>
          <p:cNvSpPr txBox="1"/>
          <p:nvPr/>
        </p:nvSpPr>
        <p:spPr>
          <a:xfrm>
            <a:off x="10632710" y="5082652"/>
            <a:ext cx="1087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1.0</a:t>
            </a: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0D68C8E6-2ED6-4A1D-BCC3-EF51C1F3BBE8}"/>
              </a:ext>
            </a:extLst>
          </p:cNvPr>
          <p:cNvSpPr txBox="1"/>
          <p:nvPr/>
        </p:nvSpPr>
        <p:spPr>
          <a:xfrm>
            <a:off x="10642338" y="4505140"/>
            <a:ext cx="1087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2.0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A76B4FED-5E52-474C-AB29-CD2E8054C5E2}"/>
              </a:ext>
            </a:extLst>
          </p:cNvPr>
          <p:cNvSpPr txBox="1"/>
          <p:nvPr/>
        </p:nvSpPr>
        <p:spPr>
          <a:xfrm>
            <a:off x="10651962" y="3889116"/>
            <a:ext cx="1087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3.0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2CD2C6B1-8B11-4643-8010-9459C8C4A99E}"/>
              </a:ext>
            </a:extLst>
          </p:cNvPr>
          <p:cNvSpPr txBox="1"/>
          <p:nvPr/>
        </p:nvSpPr>
        <p:spPr>
          <a:xfrm>
            <a:off x="10642335" y="3282728"/>
            <a:ext cx="1087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4.0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952D39EE-2474-4449-82BF-9F9D86D454DC}"/>
              </a:ext>
            </a:extLst>
          </p:cNvPr>
          <p:cNvSpPr txBox="1"/>
          <p:nvPr/>
        </p:nvSpPr>
        <p:spPr>
          <a:xfrm>
            <a:off x="10632712" y="2734082"/>
            <a:ext cx="1087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5.0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FAC43133-3DAC-48E7-89DA-23C721C3456F}"/>
              </a:ext>
            </a:extLst>
          </p:cNvPr>
          <p:cNvSpPr txBox="1"/>
          <p:nvPr/>
        </p:nvSpPr>
        <p:spPr>
          <a:xfrm rot="5400000">
            <a:off x="9416532" y="5661772"/>
            <a:ext cx="4238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Tension (mV)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29A9676-6196-4E80-B59A-8906638A205D}"/>
              </a:ext>
            </a:extLst>
          </p:cNvPr>
          <p:cNvSpPr/>
          <p:nvPr/>
        </p:nvSpPr>
        <p:spPr>
          <a:xfrm>
            <a:off x="5242552" y="3652060"/>
            <a:ext cx="309617" cy="17999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0E247748-35BD-49D0-AD48-86ACBCA8248B}"/>
              </a:ext>
            </a:extLst>
          </p:cNvPr>
          <p:cNvSpPr txBox="1"/>
          <p:nvPr/>
        </p:nvSpPr>
        <p:spPr>
          <a:xfrm rot="16200000">
            <a:off x="3248337" y="3013735"/>
            <a:ext cx="4238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Intensité réduite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2735FD3-110E-4A74-9AB1-9D0D6487E647}"/>
              </a:ext>
            </a:extLst>
          </p:cNvPr>
          <p:cNvSpPr/>
          <p:nvPr/>
        </p:nvSpPr>
        <p:spPr>
          <a:xfrm>
            <a:off x="6967082" y="3103414"/>
            <a:ext cx="702705" cy="3848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C12DFE25-9F05-4384-9E97-63E29F9785B8}"/>
              </a:ext>
            </a:extLst>
          </p:cNvPr>
          <p:cNvCxnSpPr/>
          <p:nvPr/>
        </p:nvCxnSpPr>
        <p:spPr>
          <a:xfrm>
            <a:off x="7093819" y="3149754"/>
            <a:ext cx="470034" cy="0"/>
          </a:xfrm>
          <a:prstGeom prst="line">
            <a:avLst/>
          </a:prstGeom>
          <a:ln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133E3F13-4577-40E4-85CE-F9B382D3A06E}"/>
              </a:ext>
            </a:extLst>
          </p:cNvPr>
          <p:cNvCxnSpPr/>
          <p:nvPr/>
        </p:nvCxnSpPr>
        <p:spPr>
          <a:xfrm>
            <a:off x="7101840" y="3408032"/>
            <a:ext cx="470034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87740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Image 127">
            <a:extLst>
              <a:ext uri="{FF2B5EF4-FFF2-40B4-BE49-F238E27FC236}">
                <a16:creationId xmlns:a16="http://schemas.microsoft.com/office/drawing/2014/main" id="{410E0A9D-631E-4884-9645-6619E65D92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0764" y="2908025"/>
            <a:ext cx="4195013" cy="311137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9FBADBC7-4223-4E8A-93F8-2DA0FE8B4A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50" y="759410"/>
            <a:ext cx="2686188" cy="1866996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7B8DF3BF-A2A4-4547-B82A-93CD468607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3172" y="2007983"/>
            <a:ext cx="2025754" cy="125736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5B61D96-3DED-4465-BD03-91F2B30EBDEB}"/>
              </a:ext>
            </a:extLst>
          </p:cNvPr>
          <p:cNvSpPr/>
          <p:nvPr/>
        </p:nvSpPr>
        <p:spPr>
          <a:xfrm>
            <a:off x="0" y="0"/>
            <a:ext cx="12192000" cy="42351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3A6068-251C-4982-8461-86E6FEEE7F89}"/>
              </a:ext>
            </a:extLst>
          </p:cNvPr>
          <p:cNvSpPr/>
          <p:nvPr/>
        </p:nvSpPr>
        <p:spPr>
          <a:xfrm>
            <a:off x="6096000" y="0"/>
            <a:ext cx="6096000" cy="423512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AB0CC667-7FA4-4ADA-A8E3-3124B1B570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298913"/>
            <a:ext cx="1524000" cy="1528660"/>
          </a:xfrm>
          <a:prstGeom prst="rect">
            <a:avLst/>
          </a:prstGeom>
        </p:spPr>
      </p:pic>
      <p:sp>
        <p:nvSpPr>
          <p:cNvPr id="19" name="Espace réservé du numéro de diapositive 5">
            <a:extLst>
              <a:ext uri="{FF2B5EF4-FFF2-40B4-BE49-F238E27FC236}">
                <a16:creationId xmlns:a16="http://schemas.microsoft.com/office/drawing/2014/main" id="{C58A5256-CF99-4FEB-8966-6E30349FB5FC}"/>
              </a:ext>
            </a:extLst>
          </p:cNvPr>
          <p:cNvSpPr txBox="1">
            <a:spLocks/>
          </p:cNvSpPr>
          <p:nvPr/>
        </p:nvSpPr>
        <p:spPr>
          <a:xfrm>
            <a:off x="9315650" y="192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4154B72-9C63-4F24-BB69-DA53AAEBB3A5}" type="slidenum">
              <a:rPr lang="fr-FR" sz="2000" smtClean="0">
                <a:solidFill>
                  <a:schemeClr val="bg1"/>
                </a:solidFill>
              </a:rPr>
              <a:pPr/>
              <a:t>15</a:t>
            </a:fld>
            <a:endParaRPr lang="fr-FR" sz="2000" dirty="0">
              <a:solidFill>
                <a:schemeClr val="bg1"/>
              </a:solidFill>
            </a:endParaRPr>
          </a:p>
        </p:txBody>
      </p:sp>
      <p:sp>
        <p:nvSpPr>
          <p:cNvPr id="21" name="Titre 7">
            <a:extLst>
              <a:ext uri="{FF2B5EF4-FFF2-40B4-BE49-F238E27FC236}">
                <a16:creationId xmlns:a16="http://schemas.microsoft.com/office/drawing/2014/main" id="{D624D03E-4A26-436B-B778-B2A2D7753C1E}"/>
              </a:ext>
            </a:extLst>
          </p:cNvPr>
          <p:cNvSpPr txBox="1">
            <a:spLocks/>
          </p:cNvSpPr>
          <p:nvPr/>
        </p:nvSpPr>
        <p:spPr>
          <a:xfrm>
            <a:off x="259158" y="17607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b="1" dirty="0"/>
              <a:t>Mesure I-V pulsé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EE866DB-0E70-4339-82B7-51FCA9CA9166}"/>
              </a:ext>
            </a:extLst>
          </p:cNvPr>
          <p:cNvSpPr/>
          <p:nvPr/>
        </p:nvSpPr>
        <p:spPr>
          <a:xfrm>
            <a:off x="5674350" y="3501244"/>
            <a:ext cx="1366225" cy="7040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02FEDFE-7ECF-4CF8-9C3D-4191D94D1631}"/>
              </a:ext>
            </a:extLst>
          </p:cNvPr>
          <p:cNvSpPr/>
          <p:nvPr/>
        </p:nvSpPr>
        <p:spPr>
          <a:xfrm>
            <a:off x="3570252" y="3490175"/>
            <a:ext cx="1366225" cy="7040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Espace réservé du contenu 10">
            <a:extLst>
              <a:ext uri="{FF2B5EF4-FFF2-40B4-BE49-F238E27FC236}">
                <a16:creationId xmlns:a16="http://schemas.microsoft.com/office/drawing/2014/main" id="{1F0D513E-5067-495E-9BDE-CB7DE98099CB}"/>
              </a:ext>
            </a:extLst>
          </p:cNvPr>
          <p:cNvSpPr txBox="1">
            <a:spLocks/>
          </p:cNvSpPr>
          <p:nvPr/>
        </p:nvSpPr>
        <p:spPr>
          <a:xfrm>
            <a:off x="3624461" y="3490175"/>
            <a:ext cx="1818939" cy="704016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dirty="0"/>
              <a:t>Source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FR" dirty="0"/>
              <a:t>Courant</a:t>
            </a:r>
          </a:p>
        </p:txBody>
      </p:sp>
      <p:sp>
        <p:nvSpPr>
          <p:cNvPr id="27" name="Espace réservé du contenu 10">
            <a:extLst>
              <a:ext uri="{FF2B5EF4-FFF2-40B4-BE49-F238E27FC236}">
                <a16:creationId xmlns:a16="http://schemas.microsoft.com/office/drawing/2014/main" id="{36263B8B-EB03-49D1-B06C-2A1CF6209C9D}"/>
              </a:ext>
            </a:extLst>
          </p:cNvPr>
          <p:cNvSpPr txBox="1">
            <a:spLocks/>
          </p:cNvSpPr>
          <p:nvPr/>
        </p:nvSpPr>
        <p:spPr>
          <a:xfrm>
            <a:off x="5736997" y="3575050"/>
            <a:ext cx="1818939" cy="7040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dirty="0"/>
              <a:t>YBCO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340697E-8FAE-4260-A511-6A94E094013D}"/>
              </a:ext>
            </a:extLst>
          </p:cNvPr>
          <p:cNvSpPr/>
          <p:nvPr/>
        </p:nvSpPr>
        <p:spPr>
          <a:xfrm>
            <a:off x="5799945" y="5137403"/>
            <a:ext cx="1366225" cy="6024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Espace réservé du contenu 10">
            <a:extLst>
              <a:ext uri="{FF2B5EF4-FFF2-40B4-BE49-F238E27FC236}">
                <a16:creationId xmlns:a16="http://schemas.microsoft.com/office/drawing/2014/main" id="{42ED1257-BA89-4A1C-99E0-4F1867D715AD}"/>
              </a:ext>
            </a:extLst>
          </p:cNvPr>
          <p:cNvSpPr txBox="1">
            <a:spLocks/>
          </p:cNvSpPr>
          <p:nvPr/>
        </p:nvSpPr>
        <p:spPr>
          <a:xfrm>
            <a:off x="5815380" y="5146440"/>
            <a:ext cx="1818939" cy="7040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dirty="0" err="1"/>
              <a:t>Pre-amp</a:t>
            </a:r>
            <a:endParaRPr lang="fr-FR" dirty="0"/>
          </a:p>
        </p:txBody>
      </p:sp>
      <p:cxnSp>
        <p:nvCxnSpPr>
          <p:cNvPr id="35" name="Connecteur droit 34">
            <a:extLst>
              <a:ext uri="{FF2B5EF4-FFF2-40B4-BE49-F238E27FC236}">
                <a16:creationId xmlns:a16="http://schemas.microsoft.com/office/drawing/2014/main" id="{D7EE3435-0671-45A7-8224-0A32AB147950}"/>
              </a:ext>
            </a:extLst>
          </p:cNvPr>
          <p:cNvCxnSpPr>
            <a:cxnSpLocks/>
          </p:cNvCxnSpPr>
          <p:nvPr/>
        </p:nvCxnSpPr>
        <p:spPr>
          <a:xfrm>
            <a:off x="4936477" y="3843013"/>
            <a:ext cx="737873" cy="1023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0" name="Espace réservé du contenu 10">
            <a:extLst>
              <a:ext uri="{FF2B5EF4-FFF2-40B4-BE49-F238E27FC236}">
                <a16:creationId xmlns:a16="http://schemas.microsoft.com/office/drawing/2014/main" id="{1B1E8D5B-031C-4D5F-8752-672473A563C6}"/>
              </a:ext>
            </a:extLst>
          </p:cNvPr>
          <p:cNvSpPr txBox="1">
            <a:spLocks/>
          </p:cNvSpPr>
          <p:nvPr/>
        </p:nvSpPr>
        <p:spPr>
          <a:xfrm>
            <a:off x="3709004" y="4761800"/>
            <a:ext cx="1818939" cy="70401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dirty="0"/>
              <a:t>Mesure de I</a:t>
            </a:r>
          </a:p>
        </p:txBody>
      </p:sp>
      <p:sp>
        <p:nvSpPr>
          <p:cNvPr id="51" name="Espace réservé du contenu 10">
            <a:extLst>
              <a:ext uri="{FF2B5EF4-FFF2-40B4-BE49-F238E27FC236}">
                <a16:creationId xmlns:a16="http://schemas.microsoft.com/office/drawing/2014/main" id="{D6692F83-8C95-4310-A2D7-BC2B8C9185CB}"/>
              </a:ext>
            </a:extLst>
          </p:cNvPr>
          <p:cNvSpPr txBox="1">
            <a:spLocks/>
          </p:cNvSpPr>
          <p:nvPr/>
        </p:nvSpPr>
        <p:spPr>
          <a:xfrm>
            <a:off x="3532037" y="5478745"/>
            <a:ext cx="1927410" cy="70401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dirty="0"/>
              <a:t>Mesure de V</a:t>
            </a:r>
          </a:p>
        </p:txBody>
      </p:sp>
      <p:sp>
        <p:nvSpPr>
          <p:cNvPr id="31" name="Espace réservé du contenu 10">
            <a:extLst>
              <a:ext uri="{FF2B5EF4-FFF2-40B4-BE49-F238E27FC236}">
                <a16:creationId xmlns:a16="http://schemas.microsoft.com/office/drawing/2014/main" id="{DC50F01C-9CF3-4152-9296-5FFF89DFDD9D}"/>
              </a:ext>
            </a:extLst>
          </p:cNvPr>
          <p:cNvSpPr txBox="1">
            <a:spLocks/>
          </p:cNvSpPr>
          <p:nvPr/>
        </p:nvSpPr>
        <p:spPr>
          <a:xfrm>
            <a:off x="3641845" y="3190890"/>
            <a:ext cx="1818939" cy="7040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sz="2000" dirty="0"/>
              <a:t>CS580</a:t>
            </a:r>
          </a:p>
        </p:txBody>
      </p:sp>
      <p:sp>
        <p:nvSpPr>
          <p:cNvPr id="32" name="Espace réservé du numéro de diapositive 5">
            <a:extLst>
              <a:ext uri="{FF2B5EF4-FFF2-40B4-BE49-F238E27FC236}">
                <a16:creationId xmlns:a16="http://schemas.microsoft.com/office/drawing/2014/main" id="{A639998F-7C29-4A84-AD92-C30BC288F1A1}"/>
              </a:ext>
            </a:extLst>
          </p:cNvPr>
          <p:cNvSpPr txBox="1">
            <a:spLocks/>
          </p:cNvSpPr>
          <p:nvPr/>
        </p:nvSpPr>
        <p:spPr>
          <a:xfrm>
            <a:off x="0" y="29512"/>
            <a:ext cx="6096000" cy="39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sz="2000" dirty="0">
                <a:solidFill>
                  <a:schemeClr val="bg1"/>
                </a:solidFill>
              </a:rPr>
              <a:t>					 24/06/2025</a:t>
            </a:r>
          </a:p>
        </p:txBody>
      </p:sp>
      <p:pic>
        <p:nvPicPr>
          <p:cNvPr id="49" name="Image 48">
            <a:extLst>
              <a:ext uri="{FF2B5EF4-FFF2-40B4-BE49-F238E27FC236}">
                <a16:creationId xmlns:a16="http://schemas.microsoft.com/office/drawing/2014/main" id="{FE31FC9C-066A-4345-AD90-2E59FB8EF71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8826" y="1965080"/>
            <a:ext cx="1946116" cy="1459587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B38F3DBF-F92C-4E81-AF10-262FD85BEE1D}"/>
              </a:ext>
            </a:extLst>
          </p:cNvPr>
          <p:cNvSpPr/>
          <p:nvPr/>
        </p:nvSpPr>
        <p:spPr>
          <a:xfrm>
            <a:off x="55250" y="2561699"/>
            <a:ext cx="2988363" cy="25030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Espace réservé du contenu 10">
            <a:extLst>
              <a:ext uri="{FF2B5EF4-FFF2-40B4-BE49-F238E27FC236}">
                <a16:creationId xmlns:a16="http://schemas.microsoft.com/office/drawing/2014/main" id="{17B52787-0029-4553-A2F3-1F00B81A6C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95830" y="2643372"/>
            <a:ext cx="3301376" cy="2503068"/>
          </a:xfrm>
        </p:spPr>
        <p:txBody>
          <a:bodyPr>
            <a:normAutofit fontScale="92500"/>
          </a:bodyPr>
          <a:lstStyle/>
          <a:p>
            <a:pPr marL="0" indent="0" algn="ctr">
              <a:buNone/>
            </a:pPr>
            <a:r>
              <a:rPr lang="fr-FR" dirty="0"/>
              <a:t>Red Pitaya (140 MHz)</a:t>
            </a:r>
          </a:p>
          <a:p>
            <a:pPr marL="0" indent="0" algn="ctr">
              <a:buNone/>
            </a:pPr>
            <a:r>
              <a:rPr lang="fr-FR" dirty="0"/>
              <a:t>FPGA</a:t>
            </a:r>
          </a:p>
          <a:p>
            <a:pPr marL="0" indent="0" algn="ctr">
              <a:buNone/>
            </a:pPr>
            <a:r>
              <a:rPr lang="fr-FR" dirty="0"/>
              <a:t>1 sortie</a:t>
            </a:r>
          </a:p>
          <a:p>
            <a:pPr marL="0" indent="0" algn="ctr">
              <a:buNone/>
            </a:pPr>
            <a:endParaRPr lang="fr-FR" dirty="0"/>
          </a:p>
          <a:p>
            <a:pPr marL="0" indent="0" algn="ctr">
              <a:buNone/>
            </a:pPr>
            <a:r>
              <a:rPr lang="fr-FR" dirty="0"/>
              <a:t>2 entrées (125 MHz)	</a:t>
            </a:r>
          </a:p>
        </p:txBody>
      </p: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635B010C-935C-48AE-B5EB-076D81780A68}"/>
              </a:ext>
            </a:extLst>
          </p:cNvPr>
          <p:cNvCxnSpPr>
            <a:cxnSpLocks/>
            <a:endCxn id="25" idx="1"/>
          </p:cNvCxnSpPr>
          <p:nvPr/>
        </p:nvCxnSpPr>
        <p:spPr>
          <a:xfrm>
            <a:off x="3043613" y="3831658"/>
            <a:ext cx="526639" cy="105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3" name="Connecteur : en angle 62">
            <a:extLst>
              <a:ext uri="{FF2B5EF4-FFF2-40B4-BE49-F238E27FC236}">
                <a16:creationId xmlns:a16="http://schemas.microsoft.com/office/drawing/2014/main" id="{6EDA0C77-4E48-47FD-9182-A7E98EB248DE}"/>
              </a:ext>
            </a:extLst>
          </p:cNvPr>
          <p:cNvCxnSpPr>
            <a:cxnSpLocks/>
          </p:cNvCxnSpPr>
          <p:nvPr/>
        </p:nvCxnSpPr>
        <p:spPr>
          <a:xfrm rot="10800000" flipV="1">
            <a:off x="3011404" y="3853251"/>
            <a:ext cx="2386735" cy="907249"/>
          </a:xfrm>
          <a:prstGeom prst="bentConnector3">
            <a:avLst>
              <a:gd name="adj1" fmla="val 4026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F87E9711-62AD-43D1-9BE0-E11A011BF923}"/>
              </a:ext>
            </a:extLst>
          </p:cNvPr>
          <p:cNvSpPr/>
          <p:nvPr/>
        </p:nvSpPr>
        <p:spPr>
          <a:xfrm>
            <a:off x="7631660" y="5637687"/>
            <a:ext cx="215935" cy="1198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B7F8622-59BD-42A6-BD7C-011CC3233592}"/>
              </a:ext>
            </a:extLst>
          </p:cNvPr>
          <p:cNvSpPr/>
          <p:nvPr/>
        </p:nvSpPr>
        <p:spPr>
          <a:xfrm>
            <a:off x="9215132" y="5648837"/>
            <a:ext cx="215935" cy="1198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6FC3BAC6-6A6C-4E78-A617-D9C526653FF6}"/>
              </a:ext>
            </a:extLst>
          </p:cNvPr>
          <p:cNvCxnSpPr>
            <a:cxnSpLocks/>
          </p:cNvCxnSpPr>
          <p:nvPr/>
        </p:nvCxnSpPr>
        <p:spPr>
          <a:xfrm>
            <a:off x="6478221" y="4252023"/>
            <a:ext cx="0" cy="90854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6" name="Espace réservé du contenu 10">
            <a:extLst>
              <a:ext uri="{FF2B5EF4-FFF2-40B4-BE49-F238E27FC236}">
                <a16:creationId xmlns:a16="http://schemas.microsoft.com/office/drawing/2014/main" id="{DF50CA97-DDFD-4E3C-8CBF-ACB6BD931D93}"/>
              </a:ext>
            </a:extLst>
          </p:cNvPr>
          <p:cNvSpPr txBox="1">
            <a:spLocks/>
          </p:cNvSpPr>
          <p:nvPr/>
        </p:nvSpPr>
        <p:spPr>
          <a:xfrm>
            <a:off x="4715811" y="6250164"/>
            <a:ext cx="1818939" cy="7040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sz="2000" dirty="0"/>
              <a:t>SR560</a:t>
            </a:r>
          </a:p>
        </p:txBody>
      </p:sp>
      <p:pic>
        <p:nvPicPr>
          <p:cNvPr id="87" name="Image 86">
            <a:extLst>
              <a:ext uri="{FF2B5EF4-FFF2-40B4-BE49-F238E27FC236}">
                <a16:creationId xmlns:a16="http://schemas.microsoft.com/office/drawing/2014/main" id="{8EA4F9DD-B821-4BD6-9876-028AAF9D4FC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27943" y="5764100"/>
            <a:ext cx="1992534" cy="1102445"/>
          </a:xfrm>
          <a:prstGeom prst="rect">
            <a:avLst/>
          </a:prstGeom>
        </p:spPr>
      </p:pic>
      <p:cxnSp>
        <p:nvCxnSpPr>
          <p:cNvPr id="122" name="Connecteur : en angle 121">
            <a:extLst>
              <a:ext uri="{FF2B5EF4-FFF2-40B4-BE49-F238E27FC236}">
                <a16:creationId xmlns:a16="http://schemas.microsoft.com/office/drawing/2014/main" id="{548AC3D9-D1CC-4E9D-B078-939576B1843D}"/>
              </a:ext>
            </a:extLst>
          </p:cNvPr>
          <p:cNvCxnSpPr>
            <a:cxnSpLocks/>
            <a:stCxn id="29" idx="1"/>
          </p:cNvCxnSpPr>
          <p:nvPr/>
        </p:nvCxnSpPr>
        <p:spPr>
          <a:xfrm rot="10800000">
            <a:off x="3043614" y="4896726"/>
            <a:ext cx="2771767" cy="601722"/>
          </a:xfrm>
          <a:prstGeom prst="bentConnector3">
            <a:avLst>
              <a:gd name="adj1" fmla="val 91324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0" name="Rectangle 129">
            <a:extLst>
              <a:ext uri="{FF2B5EF4-FFF2-40B4-BE49-F238E27FC236}">
                <a16:creationId xmlns:a16="http://schemas.microsoft.com/office/drawing/2014/main" id="{1E9FA25F-6375-4AE8-9FCA-AD01F310C333}"/>
              </a:ext>
            </a:extLst>
          </p:cNvPr>
          <p:cNvSpPr/>
          <p:nvPr/>
        </p:nvSpPr>
        <p:spPr>
          <a:xfrm>
            <a:off x="7132704" y="4645809"/>
            <a:ext cx="153620" cy="13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6F2A8C21-C3B7-44A4-B99C-5E71883EBE7B}"/>
              </a:ext>
            </a:extLst>
          </p:cNvPr>
          <p:cNvSpPr/>
          <p:nvPr/>
        </p:nvSpPr>
        <p:spPr>
          <a:xfrm>
            <a:off x="7737490" y="4634584"/>
            <a:ext cx="153620" cy="13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39DBCCDC-509A-4C97-A40D-0360B2AB5A93}"/>
              </a:ext>
            </a:extLst>
          </p:cNvPr>
          <p:cNvSpPr/>
          <p:nvPr/>
        </p:nvSpPr>
        <p:spPr>
          <a:xfrm>
            <a:off x="8334261" y="4644209"/>
            <a:ext cx="153620" cy="13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0258D550-4126-4A5D-9FAF-BCEA9C936E24}"/>
              </a:ext>
            </a:extLst>
          </p:cNvPr>
          <p:cNvSpPr/>
          <p:nvPr/>
        </p:nvSpPr>
        <p:spPr>
          <a:xfrm>
            <a:off x="10134186" y="4634583"/>
            <a:ext cx="153620" cy="13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35" name="Connecteur droit 134">
            <a:extLst>
              <a:ext uri="{FF2B5EF4-FFF2-40B4-BE49-F238E27FC236}">
                <a16:creationId xmlns:a16="http://schemas.microsoft.com/office/drawing/2014/main" id="{434513DA-7D60-4BEF-86BB-9FE63CC7FE81}"/>
              </a:ext>
            </a:extLst>
          </p:cNvPr>
          <p:cNvCxnSpPr>
            <a:cxnSpLocks/>
          </p:cNvCxnSpPr>
          <p:nvPr/>
        </p:nvCxnSpPr>
        <p:spPr>
          <a:xfrm>
            <a:off x="11373203" y="3075969"/>
            <a:ext cx="7144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6" name="Connecteur droit 135">
            <a:extLst>
              <a:ext uri="{FF2B5EF4-FFF2-40B4-BE49-F238E27FC236}">
                <a16:creationId xmlns:a16="http://schemas.microsoft.com/office/drawing/2014/main" id="{4A955D1C-9D77-41F5-964C-F5BD336C4BDC}"/>
              </a:ext>
            </a:extLst>
          </p:cNvPr>
          <p:cNvCxnSpPr>
            <a:cxnSpLocks/>
          </p:cNvCxnSpPr>
          <p:nvPr/>
        </p:nvCxnSpPr>
        <p:spPr>
          <a:xfrm>
            <a:off x="11371392" y="3497872"/>
            <a:ext cx="7144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7" name="Connecteur droit 136">
            <a:extLst>
              <a:ext uri="{FF2B5EF4-FFF2-40B4-BE49-F238E27FC236}">
                <a16:creationId xmlns:a16="http://schemas.microsoft.com/office/drawing/2014/main" id="{4DB8259E-FBAC-4602-B282-A090B1DDD9BF}"/>
              </a:ext>
            </a:extLst>
          </p:cNvPr>
          <p:cNvCxnSpPr>
            <a:cxnSpLocks/>
          </p:cNvCxnSpPr>
          <p:nvPr/>
        </p:nvCxnSpPr>
        <p:spPr>
          <a:xfrm>
            <a:off x="11371391" y="3958281"/>
            <a:ext cx="7144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8" name="Connecteur droit 137">
            <a:extLst>
              <a:ext uri="{FF2B5EF4-FFF2-40B4-BE49-F238E27FC236}">
                <a16:creationId xmlns:a16="http://schemas.microsoft.com/office/drawing/2014/main" id="{4B47A05E-E925-4AA1-B5C0-777EA4E202A6}"/>
              </a:ext>
            </a:extLst>
          </p:cNvPr>
          <p:cNvCxnSpPr>
            <a:cxnSpLocks/>
          </p:cNvCxnSpPr>
          <p:nvPr/>
        </p:nvCxnSpPr>
        <p:spPr>
          <a:xfrm>
            <a:off x="11390644" y="4431525"/>
            <a:ext cx="7144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9" name="Connecteur droit 138">
            <a:extLst>
              <a:ext uri="{FF2B5EF4-FFF2-40B4-BE49-F238E27FC236}">
                <a16:creationId xmlns:a16="http://schemas.microsoft.com/office/drawing/2014/main" id="{5426AD43-235E-485F-89C0-2524FE514FF6}"/>
              </a:ext>
            </a:extLst>
          </p:cNvPr>
          <p:cNvCxnSpPr>
            <a:cxnSpLocks/>
          </p:cNvCxnSpPr>
          <p:nvPr/>
        </p:nvCxnSpPr>
        <p:spPr>
          <a:xfrm>
            <a:off x="11350849" y="4843382"/>
            <a:ext cx="7144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D91C70E3-E689-421C-9748-0D5ECFF83A9B}"/>
              </a:ext>
            </a:extLst>
          </p:cNvPr>
          <p:cNvCxnSpPr>
            <a:cxnSpLocks/>
          </p:cNvCxnSpPr>
          <p:nvPr/>
        </p:nvCxnSpPr>
        <p:spPr>
          <a:xfrm>
            <a:off x="11361769" y="5307836"/>
            <a:ext cx="7144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1" name="ZoneTexte 140">
            <a:extLst>
              <a:ext uri="{FF2B5EF4-FFF2-40B4-BE49-F238E27FC236}">
                <a16:creationId xmlns:a16="http://schemas.microsoft.com/office/drawing/2014/main" id="{494E8DE1-FF9F-4A81-A70F-E620D4F4F3DE}"/>
              </a:ext>
            </a:extLst>
          </p:cNvPr>
          <p:cNvSpPr txBox="1"/>
          <p:nvPr/>
        </p:nvSpPr>
        <p:spPr>
          <a:xfrm>
            <a:off x="11422296" y="5124816"/>
            <a:ext cx="8073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0.0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60BF762-284E-4DB3-A858-298343A3A285}"/>
              </a:ext>
            </a:extLst>
          </p:cNvPr>
          <p:cNvSpPr txBox="1"/>
          <p:nvPr/>
        </p:nvSpPr>
        <p:spPr>
          <a:xfrm>
            <a:off x="11419519" y="4661039"/>
            <a:ext cx="8073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1.0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FF2290F6-DAA3-4B2E-A80D-6EE09D6E75E2}"/>
              </a:ext>
            </a:extLst>
          </p:cNvPr>
          <p:cNvSpPr txBox="1"/>
          <p:nvPr/>
        </p:nvSpPr>
        <p:spPr>
          <a:xfrm>
            <a:off x="11411550" y="4252023"/>
            <a:ext cx="8073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2.0</a:t>
            </a:r>
            <a:endParaRPr lang="fr-FR" dirty="0"/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AA00346-AB0B-4FF3-89C8-E808AB07C8E5}"/>
              </a:ext>
            </a:extLst>
          </p:cNvPr>
          <p:cNvSpPr txBox="1"/>
          <p:nvPr/>
        </p:nvSpPr>
        <p:spPr>
          <a:xfrm>
            <a:off x="11416742" y="3790220"/>
            <a:ext cx="8073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3.0</a:t>
            </a:r>
            <a:endParaRPr lang="fr-FR" dirty="0"/>
          </a:p>
        </p:txBody>
      </p:sp>
      <p:sp>
        <p:nvSpPr>
          <p:cNvPr id="145" name="ZoneTexte 144">
            <a:extLst>
              <a:ext uri="{FF2B5EF4-FFF2-40B4-BE49-F238E27FC236}">
                <a16:creationId xmlns:a16="http://schemas.microsoft.com/office/drawing/2014/main" id="{B40EC397-C785-4C7D-BEE6-AE390246AD25}"/>
              </a:ext>
            </a:extLst>
          </p:cNvPr>
          <p:cNvSpPr txBox="1"/>
          <p:nvPr/>
        </p:nvSpPr>
        <p:spPr>
          <a:xfrm>
            <a:off x="11415447" y="3330793"/>
            <a:ext cx="8073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4.0</a:t>
            </a:r>
            <a:endParaRPr lang="fr-FR" dirty="0"/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7A57AC5C-CC9A-4227-907B-A45340757196}"/>
              </a:ext>
            </a:extLst>
          </p:cNvPr>
          <p:cNvSpPr txBox="1"/>
          <p:nvPr/>
        </p:nvSpPr>
        <p:spPr>
          <a:xfrm>
            <a:off x="11419516" y="2909458"/>
            <a:ext cx="8073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5.0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01A871B2-1319-4037-9917-BACB6304606B}"/>
              </a:ext>
            </a:extLst>
          </p:cNvPr>
          <p:cNvSpPr/>
          <p:nvPr/>
        </p:nvSpPr>
        <p:spPr>
          <a:xfrm>
            <a:off x="7315761" y="3575050"/>
            <a:ext cx="229830" cy="13754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1" name="ZoneTexte 160">
            <a:extLst>
              <a:ext uri="{FF2B5EF4-FFF2-40B4-BE49-F238E27FC236}">
                <a16:creationId xmlns:a16="http://schemas.microsoft.com/office/drawing/2014/main" id="{C7FA7863-72E4-4079-B441-EE16AB120353}"/>
              </a:ext>
            </a:extLst>
          </p:cNvPr>
          <p:cNvSpPr txBox="1"/>
          <p:nvPr/>
        </p:nvSpPr>
        <p:spPr>
          <a:xfrm rot="16200000">
            <a:off x="5257775" y="2845998"/>
            <a:ext cx="42383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Intensité réduite</a:t>
            </a:r>
          </a:p>
        </p:txBody>
      </p:sp>
      <p:sp>
        <p:nvSpPr>
          <p:cNvPr id="162" name="ZoneTexte 161">
            <a:extLst>
              <a:ext uri="{FF2B5EF4-FFF2-40B4-BE49-F238E27FC236}">
                <a16:creationId xmlns:a16="http://schemas.microsoft.com/office/drawing/2014/main" id="{D1B6002E-B42C-472B-9233-416D33F72E9B}"/>
              </a:ext>
            </a:extLst>
          </p:cNvPr>
          <p:cNvSpPr txBox="1"/>
          <p:nvPr/>
        </p:nvSpPr>
        <p:spPr>
          <a:xfrm rot="5400000">
            <a:off x="9878546" y="5571281"/>
            <a:ext cx="42383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Tension (mV)</a:t>
            </a:r>
          </a:p>
        </p:txBody>
      </p:sp>
      <p:sp>
        <p:nvSpPr>
          <p:cNvPr id="52" name="Espace réservé du contenu 10">
            <a:extLst>
              <a:ext uri="{FF2B5EF4-FFF2-40B4-BE49-F238E27FC236}">
                <a16:creationId xmlns:a16="http://schemas.microsoft.com/office/drawing/2014/main" id="{9DA70C5F-F32A-4269-8125-BFC91A6778BD}"/>
              </a:ext>
            </a:extLst>
          </p:cNvPr>
          <p:cNvSpPr txBox="1">
            <a:spLocks/>
          </p:cNvSpPr>
          <p:nvPr/>
        </p:nvSpPr>
        <p:spPr>
          <a:xfrm>
            <a:off x="3295301" y="1680592"/>
            <a:ext cx="1818939" cy="7040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dirty="0"/>
              <a:t>0 – 100 mA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68E3CC-8870-4130-9030-115D63909F13}"/>
              </a:ext>
            </a:extLst>
          </p:cNvPr>
          <p:cNvSpPr/>
          <p:nvPr/>
        </p:nvSpPr>
        <p:spPr>
          <a:xfrm>
            <a:off x="8644855" y="3158455"/>
            <a:ext cx="520117" cy="4165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C7EFCB90-3830-4B04-986C-4464C92F8766}"/>
              </a:ext>
            </a:extLst>
          </p:cNvPr>
          <p:cNvCxnSpPr/>
          <p:nvPr/>
        </p:nvCxnSpPr>
        <p:spPr>
          <a:xfrm>
            <a:off x="8704628" y="3209902"/>
            <a:ext cx="470034" cy="0"/>
          </a:xfrm>
          <a:prstGeom prst="line">
            <a:avLst/>
          </a:prstGeom>
          <a:ln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2D9E9DB3-16C9-477C-8217-677B73EEAED1}"/>
              </a:ext>
            </a:extLst>
          </p:cNvPr>
          <p:cNvCxnSpPr/>
          <p:nvPr/>
        </p:nvCxnSpPr>
        <p:spPr>
          <a:xfrm>
            <a:off x="8712649" y="3468180"/>
            <a:ext cx="470034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10620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3D4EA59A-5BCC-4238-A720-E8050A42A0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6648"/>
            <a:ext cx="5852172" cy="438912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5B61D96-3DED-4465-BD03-91F2B30EBDEB}"/>
              </a:ext>
            </a:extLst>
          </p:cNvPr>
          <p:cNvSpPr/>
          <p:nvPr/>
        </p:nvSpPr>
        <p:spPr>
          <a:xfrm>
            <a:off x="0" y="0"/>
            <a:ext cx="12192000" cy="42351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3A6068-251C-4982-8461-86E6FEEE7F89}"/>
              </a:ext>
            </a:extLst>
          </p:cNvPr>
          <p:cNvSpPr/>
          <p:nvPr/>
        </p:nvSpPr>
        <p:spPr>
          <a:xfrm>
            <a:off x="6096000" y="0"/>
            <a:ext cx="6096000" cy="423512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55F24D9D-D57A-491C-892F-B55139ED274B}"/>
              </a:ext>
            </a:extLst>
          </p:cNvPr>
          <p:cNvSpPr txBox="1">
            <a:spLocks/>
          </p:cNvSpPr>
          <p:nvPr/>
        </p:nvSpPr>
        <p:spPr>
          <a:xfrm>
            <a:off x="0" y="29512"/>
            <a:ext cx="6096000" cy="39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sz="2000" dirty="0">
                <a:solidFill>
                  <a:schemeClr val="bg1"/>
                </a:solidFill>
              </a:rPr>
              <a:t>					 24/06/2025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AB0CC667-7FA4-4ADA-A8E3-3124B1B570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298913"/>
            <a:ext cx="1524000" cy="1528660"/>
          </a:xfrm>
          <a:prstGeom prst="rect">
            <a:avLst/>
          </a:prstGeom>
        </p:spPr>
      </p:pic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27D80CE0-EF57-427D-A0BE-D3D0D93718A2}"/>
              </a:ext>
            </a:extLst>
          </p:cNvPr>
          <p:cNvSpPr txBox="1">
            <a:spLocks/>
          </p:cNvSpPr>
          <p:nvPr/>
        </p:nvSpPr>
        <p:spPr>
          <a:xfrm>
            <a:off x="9315650" y="192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4154B72-9C63-4F24-BB69-DA53AAEBB3A5}" type="slidenum">
              <a:rPr lang="fr-FR" sz="2000" smtClean="0">
                <a:solidFill>
                  <a:schemeClr val="bg1"/>
                </a:solidFill>
              </a:rPr>
              <a:pPr/>
              <a:t>16</a:t>
            </a:fld>
            <a:endParaRPr lang="fr-FR" sz="2000" dirty="0">
              <a:solidFill>
                <a:schemeClr val="bg1"/>
              </a:solidFill>
            </a:endParaRPr>
          </a:p>
        </p:txBody>
      </p:sp>
      <p:sp>
        <p:nvSpPr>
          <p:cNvPr id="18" name="Titre 7">
            <a:extLst>
              <a:ext uri="{FF2B5EF4-FFF2-40B4-BE49-F238E27FC236}">
                <a16:creationId xmlns:a16="http://schemas.microsoft.com/office/drawing/2014/main" id="{B92A464D-E494-41FD-913D-F3DBEBCF044A}"/>
              </a:ext>
            </a:extLst>
          </p:cNvPr>
          <p:cNvSpPr txBox="1">
            <a:spLocks/>
          </p:cNvSpPr>
          <p:nvPr/>
        </p:nvSpPr>
        <p:spPr>
          <a:xfrm>
            <a:off x="1243262" y="9433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b="1" dirty="0"/>
              <a:t>Données brut I-V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2E725E-C361-4157-ADF5-338DF461C98A}"/>
              </a:ext>
            </a:extLst>
          </p:cNvPr>
          <p:cNvSpPr/>
          <p:nvPr/>
        </p:nvSpPr>
        <p:spPr>
          <a:xfrm>
            <a:off x="2702310" y="3989961"/>
            <a:ext cx="345690" cy="27878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2ADE6B71-C813-49AD-9F97-56307F8298C4}"/>
              </a:ext>
            </a:extLst>
          </p:cNvPr>
          <p:cNvSpPr txBox="1"/>
          <p:nvPr/>
        </p:nvSpPr>
        <p:spPr>
          <a:xfrm>
            <a:off x="2248753" y="5498294"/>
            <a:ext cx="8865219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500" dirty="0"/>
              <a:t>En champ pulsé : environ 100 I-V par champ pulsé</a:t>
            </a:r>
          </a:p>
          <a:p>
            <a:r>
              <a:rPr lang="fr-FR" sz="2500" dirty="0"/>
              <a:t>Nombre de points de données = 50 000  000</a:t>
            </a:r>
          </a:p>
          <a:p>
            <a:r>
              <a:rPr lang="fr-FR" sz="2500" dirty="0"/>
              <a:t>=&gt;Traitement nécessaire : Python  </a:t>
            </a:r>
          </a:p>
        </p:txBody>
      </p:sp>
      <p:pic>
        <p:nvPicPr>
          <p:cNvPr id="45" name="Image 44">
            <a:extLst>
              <a:ext uri="{FF2B5EF4-FFF2-40B4-BE49-F238E27FC236}">
                <a16:creationId xmlns:a16="http://schemas.microsoft.com/office/drawing/2014/main" id="{636F7AE9-BC85-4AF0-9F47-0FCAAFC5E9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3814" y="1215049"/>
            <a:ext cx="5489717" cy="4071630"/>
          </a:xfrm>
          <a:prstGeom prst="rect">
            <a:avLst/>
          </a:prstGeom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AD424797-CCF0-4A2B-9950-56C288C3352E}"/>
              </a:ext>
            </a:extLst>
          </p:cNvPr>
          <p:cNvSpPr/>
          <p:nvPr/>
        </p:nvSpPr>
        <p:spPr>
          <a:xfrm>
            <a:off x="5733439" y="4885679"/>
            <a:ext cx="606392" cy="1732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CD33956-3F9E-4271-A11B-B4C892EDE64B}"/>
              </a:ext>
            </a:extLst>
          </p:cNvPr>
          <p:cNvSpPr/>
          <p:nvPr/>
        </p:nvSpPr>
        <p:spPr>
          <a:xfrm>
            <a:off x="6636607" y="4893702"/>
            <a:ext cx="206951" cy="1732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352E1FA-CCA5-4553-A574-A7FE289C2F18}"/>
              </a:ext>
            </a:extLst>
          </p:cNvPr>
          <p:cNvSpPr/>
          <p:nvPr/>
        </p:nvSpPr>
        <p:spPr>
          <a:xfrm>
            <a:off x="7241393" y="4882477"/>
            <a:ext cx="206951" cy="1732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17223F7-5191-42A2-BC44-D40CA8183303}"/>
              </a:ext>
            </a:extLst>
          </p:cNvPr>
          <p:cNvSpPr/>
          <p:nvPr/>
        </p:nvSpPr>
        <p:spPr>
          <a:xfrm>
            <a:off x="7838164" y="4892102"/>
            <a:ext cx="206951" cy="1732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29167ED-A422-4ED1-BCE4-B2C3B4F45578}"/>
              </a:ext>
            </a:extLst>
          </p:cNvPr>
          <p:cNvSpPr/>
          <p:nvPr/>
        </p:nvSpPr>
        <p:spPr>
          <a:xfrm>
            <a:off x="9031698" y="4892099"/>
            <a:ext cx="206951" cy="1732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B98A137-C913-4DED-8872-E5BA4FE926B3}"/>
              </a:ext>
            </a:extLst>
          </p:cNvPr>
          <p:cNvSpPr/>
          <p:nvPr/>
        </p:nvSpPr>
        <p:spPr>
          <a:xfrm>
            <a:off x="9638089" y="4882476"/>
            <a:ext cx="206951" cy="1732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52" name="Connecteur droit 51">
            <a:extLst>
              <a:ext uri="{FF2B5EF4-FFF2-40B4-BE49-F238E27FC236}">
                <a16:creationId xmlns:a16="http://schemas.microsoft.com/office/drawing/2014/main" id="{45B77984-3EC4-4755-8A5D-B8F41F9286EA}"/>
              </a:ext>
            </a:extLst>
          </p:cNvPr>
          <p:cNvCxnSpPr>
            <a:cxnSpLocks/>
          </p:cNvCxnSpPr>
          <p:nvPr/>
        </p:nvCxnSpPr>
        <p:spPr>
          <a:xfrm>
            <a:off x="11011302" y="1420418"/>
            <a:ext cx="962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FA768BED-2E7F-4FD0-8CD8-32104B8842BD}"/>
              </a:ext>
            </a:extLst>
          </p:cNvPr>
          <p:cNvCxnSpPr>
            <a:cxnSpLocks/>
          </p:cNvCxnSpPr>
          <p:nvPr/>
        </p:nvCxnSpPr>
        <p:spPr>
          <a:xfrm>
            <a:off x="11000076" y="1986702"/>
            <a:ext cx="962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F87B61E9-AB1A-42C9-9902-A4D5FF15CADA}"/>
              </a:ext>
            </a:extLst>
          </p:cNvPr>
          <p:cNvCxnSpPr>
            <a:cxnSpLocks/>
          </p:cNvCxnSpPr>
          <p:nvPr/>
        </p:nvCxnSpPr>
        <p:spPr>
          <a:xfrm>
            <a:off x="11009699" y="2572240"/>
            <a:ext cx="962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8850B1B2-B146-4EA4-84B4-357108F03D35}"/>
              </a:ext>
            </a:extLst>
          </p:cNvPr>
          <p:cNvCxnSpPr>
            <a:cxnSpLocks/>
          </p:cNvCxnSpPr>
          <p:nvPr/>
        </p:nvCxnSpPr>
        <p:spPr>
          <a:xfrm>
            <a:off x="11009700" y="3180236"/>
            <a:ext cx="962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D97F9567-B398-471C-96B6-2B2F66180EEF}"/>
              </a:ext>
            </a:extLst>
          </p:cNvPr>
          <p:cNvCxnSpPr>
            <a:cxnSpLocks/>
          </p:cNvCxnSpPr>
          <p:nvPr/>
        </p:nvCxnSpPr>
        <p:spPr>
          <a:xfrm>
            <a:off x="11009699" y="3767382"/>
            <a:ext cx="962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7" name="Connecteur droit 56">
            <a:extLst>
              <a:ext uri="{FF2B5EF4-FFF2-40B4-BE49-F238E27FC236}">
                <a16:creationId xmlns:a16="http://schemas.microsoft.com/office/drawing/2014/main" id="{C3126884-49A3-469D-8804-1599A8ABB734}"/>
              </a:ext>
            </a:extLst>
          </p:cNvPr>
          <p:cNvCxnSpPr>
            <a:cxnSpLocks/>
          </p:cNvCxnSpPr>
          <p:nvPr/>
        </p:nvCxnSpPr>
        <p:spPr>
          <a:xfrm>
            <a:off x="11019325" y="4344896"/>
            <a:ext cx="962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8" name="ZoneTexte 57">
            <a:extLst>
              <a:ext uri="{FF2B5EF4-FFF2-40B4-BE49-F238E27FC236}">
                <a16:creationId xmlns:a16="http://schemas.microsoft.com/office/drawing/2014/main" id="{C9F559E1-DF19-48AD-89CE-EDF842203D4C}"/>
              </a:ext>
            </a:extLst>
          </p:cNvPr>
          <p:cNvSpPr txBox="1"/>
          <p:nvPr/>
        </p:nvSpPr>
        <p:spPr>
          <a:xfrm>
            <a:off x="11115575" y="4160230"/>
            <a:ext cx="1087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0.0</a:t>
            </a:r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76BA2E2D-A210-44CC-B31A-1A35A0E36575}"/>
              </a:ext>
            </a:extLst>
          </p:cNvPr>
          <p:cNvSpPr txBox="1"/>
          <p:nvPr/>
        </p:nvSpPr>
        <p:spPr>
          <a:xfrm>
            <a:off x="11113972" y="3581110"/>
            <a:ext cx="1087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1.0</a:t>
            </a:r>
          </a:p>
        </p:txBody>
      </p:sp>
      <p:sp>
        <p:nvSpPr>
          <p:cNvPr id="60" name="ZoneTexte 59">
            <a:extLst>
              <a:ext uri="{FF2B5EF4-FFF2-40B4-BE49-F238E27FC236}">
                <a16:creationId xmlns:a16="http://schemas.microsoft.com/office/drawing/2014/main" id="{128DB8DB-AA1B-42AC-8458-B4A19A6E614A}"/>
              </a:ext>
            </a:extLst>
          </p:cNvPr>
          <p:cNvSpPr txBox="1"/>
          <p:nvPr/>
        </p:nvSpPr>
        <p:spPr>
          <a:xfrm>
            <a:off x="11123600" y="3003598"/>
            <a:ext cx="1087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2.0</a:t>
            </a:r>
          </a:p>
        </p:txBody>
      </p:sp>
      <p:sp>
        <p:nvSpPr>
          <p:cNvPr id="61" name="ZoneTexte 60">
            <a:extLst>
              <a:ext uri="{FF2B5EF4-FFF2-40B4-BE49-F238E27FC236}">
                <a16:creationId xmlns:a16="http://schemas.microsoft.com/office/drawing/2014/main" id="{43BA6E7E-DBFE-4D15-8EC2-0463870C3335}"/>
              </a:ext>
            </a:extLst>
          </p:cNvPr>
          <p:cNvSpPr txBox="1"/>
          <p:nvPr/>
        </p:nvSpPr>
        <p:spPr>
          <a:xfrm>
            <a:off x="11133224" y="2387574"/>
            <a:ext cx="1087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3.0</a:t>
            </a:r>
          </a:p>
        </p:txBody>
      </p:sp>
      <p:sp>
        <p:nvSpPr>
          <p:cNvPr id="62" name="ZoneTexte 61">
            <a:extLst>
              <a:ext uri="{FF2B5EF4-FFF2-40B4-BE49-F238E27FC236}">
                <a16:creationId xmlns:a16="http://schemas.microsoft.com/office/drawing/2014/main" id="{1A7B5711-FB43-4446-A544-8E3129E6FA0B}"/>
              </a:ext>
            </a:extLst>
          </p:cNvPr>
          <p:cNvSpPr txBox="1"/>
          <p:nvPr/>
        </p:nvSpPr>
        <p:spPr>
          <a:xfrm>
            <a:off x="11123597" y="1781186"/>
            <a:ext cx="1087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4.0</a:t>
            </a:r>
          </a:p>
        </p:txBody>
      </p:sp>
      <p:sp>
        <p:nvSpPr>
          <p:cNvPr id="63" name="ZoneTexte 62">
            <a:extLst>
              <a:ext uri="{FF2B5EF4-FFF2-40B4-BE49-F238E27FC236}">
                <a16:creationId xmlns:a16="http://schemas.microsoft.com/office/drawing/2014/main" id="{DBB4F025-F5EF-4EAC-A6EC-1A2F82837CAE}"/>
              </a:ext>
            </a:extLst>
          </p:cNvPr>
          <p:cNvSpPr txBox="1"/>
          <p:nvPr/>
        </p:nvSpPr>
        <p:spPr>
          <a:xfrm>
            <a:off x="11113974" y="1232540"/>
            <a:ext cx="1087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5.0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D5DAB2C5-D678-4B30-8FA5-4C14CB45EF56}"/>
              </a:ext>
            </a:extLst>
          </p:cNvPr>
          <p:cNvSpPr/>
          <p:nvPr/>
        </p:nvSpPr>
        <p:spPr>
          <a:xfrm>
            <a:off x="5723814" y="2150518"/>
            <a:ext cx="309617" cy="17999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30F7CB16-5C6A-463A-90DB-40C8BE64D269}"/>
              </a:ext>
            </a:extLst>
          </p:cNvPr>
          <p:cNvSpPr/>
          <p:nvPr/>
        </p:nvSpPr>
        <p:spPr>
          <a:xfrm>
            <a:off x="7448344" y="1601872"/>
            <a:ext cx="702705" cy="3848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7EEDAD8A-B7C5-4ABA-BCC4-8550313D4C1E}"/>
              </a:ext>
            </a:extLst>
          </p:cNvPr>
          <p:cNvCxnSpPr/>
          <p:nvPr/>
        </p:nvCxnSpPr>
        <p:spPr>
          <a:xfrm>
            <a:off x="7575081" y="1648212"/>
            <a:ext cx="470034" cy="0"/>
          </a:xfrm>
          <a:prstGeom prst="line">
            <a:avLst/>
          </a:prstGeom>
          <a:ln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7" name="Connecteur droit 66">
            <a:extLst>
              <a:ext uri="{FF2B5EF4-FFF2-40B4-BE49-F238E27FC236}">
                <a16:creationId xmlns:a16="http://schemas.microsoft.com/office/drawing/2014/main" id="{6591B7DF-3F2D-43F4-948A-8C0A5EDB21E7}"/>
              </a:ext>
            </a:extLst>
          </p:cNvPr>
          <p:cNvCxnSpPr/>
          <p:nvPr/>
        </p:nvCxnSpPr>
        <p:spPr>
          <a:xfrm>
            <a:off x="7583102" y="1906490"/>
            <a:ext cx="470034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3E9C5714-0C74-451C-9E39-EAE338200C5F}"/>
              </a:ext>
            </a:extLst>
          </p:cNvPr>
          <p:cNvCxnSpPr>
            <a:cxnSpLocks/>
          </p:cNvCxnSpPr>
          <p:nvPr/>
        </p:nvCxnSpPr>
        <p:spPr>
          <a:xfrm flipV="1">
            <a:off x="3048000" y="1337912"/>
            <a:ext cx="3477928" cy="263394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51C0624C-15BB-4F27-BF3A-86981EBD5A49}"/>
              </a:ext>
            </a:extLst>
          </p:cNvPr>
          <p:cNvCxnSpPr>
            <a:cxnSpLocks/>
          </p:cNvCxnSpPr>
          <p:nvPr/>
        </p:nvCxnSpPr>
        <p:spPr>
          <a:xfrm>
            <a:off x="3048000" y="4268741"/>
            <a:ext cx="3458678" cy="37063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0" name="ZoneTexte 69">
            <a:extLst>
              <a:ext uri="{FF2B5EF4-FFF2-40B4-BE49-F238E27FC236}">
                <a16:creationId xmlns:a16="http://schemas.microsoft.com/office/drawing/2014/main" id="{D1782788-735E-4E68-921C-FA18128C2FF8}"/>
              </a:ext>
            </a:extLst>
          </p:cNvPr>
          <p:cNvSpPr txBox="1"/>
          <p:nvPr/>
        </p:nvSpPr>
        <p:spPr>
          <a:xfrm rot="16200000">
            <a:off x="3619518" y="1611909"/>
            <a:ext cx="42383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Intensité réduite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1FB05C63-264E-44A2-BF27-1C3CD5F53AD4}"/>
              </a:ext>
            </a:extLst>
          </p:cNvPr>
          <p:cNvSpPr txBox="1"/>
          <p:nvPr/>
        </p:nvSpPr>
        <p:spPr>
          <a:xfrm rot="5400000">
            <a:off x="9664021" y="4360285"/>
            <a:ext cx="42383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Tension (mV)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CD8D3EE2-3831-4FC3-BDE1-A0D62532DA62}"/>
              </a:ext>
            </a:extLst>
          </p:cNvPr>
          <p:cNvSpPr/>
          <p:nvPr/>
        </p:nvSpPr>
        <p:spPr>
          <a:xfrm>
            <a:off x="7467594" y="1601872"/>
            <a:ext cx="702705" cy="3848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3" name="Connecteur droit 72">
            <a:extLst>
              <a:ext uri="{FF2B5EF4-FFF2-40B4-BE49-F238E27FC236}">
                <a16:creationId xmlns:a16="http://schemas.microsoft.com/office/drawing/2014/main" id="{5C84F452-B33D-4649-A558-2982760F7EA4}"/>
              </a:ext>
            </a:extLst>
          </p:cNvPr>
          <p:cNvCxnSpPr/>
          <p:nvPr/>
        </p:nvCxnSpPr>
        <p:spPr>
          <a:xfrm>
            <a:off x="7622463" y="1649562"/>
            <a:ext cx="470034" cy="0"/>
          </a:xfrm>
          <a:prstGeom prst="line">
            <a:avLst/>
          </a:prstGeom>
          <a:ln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Connecteur droit 73">
            <a:extLst>
              <a:ext uri="{FF2B5EF4-FFF2-40B4-BE49-F238E27FC236}">
                <a16:creationId xmlns:a16="http://schemas.microsoft.com/office/drawing/2014/main" id="{EF9C021D-5B6E-4811-8AC6-886FE62C5772}"/>
              </a:ext>
            </a:extLst>
          </p:cNvPr>
          <p:cNvCxnSpPr/>
          <p:nvPr/>
        </p:nvCxnSpPr>
        <p:spPr>
          <a:xfrm>
            <a:off x="7630484" y="1907840"/>
            <a:ext cx="470034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1180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5B61D96-3DED-4465-BD03-91F2B30EBDEB}"/>
              </a:ext>
            </a:extLst>
          </p:cNvPr>
          <p:cNvSpPr/>
          <p:nvPr/>
        </p:nvSpPr>
        <p:spPr>
          <a:xfrm>
            <a:off x="0" y="0"/>
            <a:ext cx="12192000" cy="42351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3A6068-251C-4982-8461-86E6FEEE7F89}"/>
              </a:ext>
            </a:extLst>
          </p:cNvPr>
          <p:cNvSpPr/>
          <p:nvPr/>
        </p:nvSpPr>
        <p:spPr>
          <a:xfrm>
            <a:off x="6096000" y="0"/>
            <a:ext cx="6096000" cy="423512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A7E166D-683E-44CC-9DD5-5E1653517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54B72-9C63-4F24-BB69-DA53AAEBB3A5}" type="slidenum">
              <a:rPr lang="fr-FR" sz="2000" smtClean="0">
                <a:solidFill>
                  <a:schemeClr val="bg1"/>
                </a:solidFill>
              </a:rPr>
              <a:t>17</a:t>
            </a:fld>
            <a:endParaRPr lang="fr-FR" sz="2000" dirty="0">
              <a:solidFill>
                <a:schemeClr val="bg1"/>
              </a:solidFill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AB0CC667-7FA4-4ADA-A8E3-3124B1B570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298913"/>
            <a:ext cx="1524000" cy="1528660"/>
          </a:xfrm>
          <a:prstGeom prst="rect">
            <a:avLst/>
          </a:prstGeom>
        </p:spPr>
      </p:pic>
      <p:sp>
        <p:nvSpPr>
          <p:cNvPr id="19" name="Espace réservé du numéro de diapositive 5">
            <a:extLst>
              <a:ext uri="{FF2B5EF4-FFF2-40B4-BE49-F238E27FC236}">
                <a16:creationId xmlns:a16="http://schemas.microsoft.com/office/drawing/2014/main" id="{C58A5256-CF99-4FEB-8966-6E30349FB5FC}"/>
              </a:ext>
            </a:extLst>
          </p:cNvPr>
          <p:cNvSpPr txBox="1">
            <a:spLocks/>
          </p:cNvSpPr>
          <p:nvPr/>
        </p:nvSpPr>
        <p:spPr>
          <a:xfrm>
            <a:off x="9315650" y="192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4154B72-9C63-4F24-BB69-DA53AAEBB3A5}" type="slidenum">
              <a:rPr lang="fr-FR" sz="2000" smtClean="0">
                <a:solidFill>
                  <a:schemeClr val="bg1"/>
                </a:solidFill>
              </a:rPr>
              <a:pPr/>
              <a:t>17</a:t>
            </a:fld>
            <a:endParaRPr lang="fr-FR" sz="2000" dirty="0">
              <a:solidFill>
                <a:schemeClr val="bg1"/>
              </a:solidFill>
            </a:endParaRPr>
          </a:p>
        </p:txBody>
      </p:sp>
      <p:sp>
        <p:nvSpPr>
          <p:cNvPr id="35" name="Espace réservé du numéro de diapositive 5">
            <a:extLst>
              <a:ext uri="{FF2B5EF4-FFF2-40B4-BE49-F238E27FC236}">
                <a16:creationId xmlns:a16="http://schemas.microsoft.com/office/drawing/2014/main" id="{D8153FE1-7D62-4F71-A2A8-AF5E4DBB4412}"/>
              </a:ext>
            </a:extLst>
          </p:cNvPr>
          <p:cNvSpPr txBox="1">
            <a:spLocks/>
          </p:cNvSpPr>
          <p:nvPr/>
        </p:nvSpPr>
        <p:spPr>
          <a:xfrm>
            <a:off x="0" y="29512"/>
            <a:ext cx="6096000" cy="39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sz="2000" dirty="0">
                <a:solidFill>
                  <a:schemeClr val="bg1"/>
                </a:solidFill>
              </a:rPr>
              <a:t>					 24/06/2025</a:t>
            </a:r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id="{56415F1D-0E8C-4945-8782-F16875059A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2125" y="442762"/>
            <a:ext cx="2764736" cy="2073552"/>
          </a:xfrm>
          <a:prstGeom prst="rect">
            <a:avLst/>
          </a:prstGeom>
        </p:spPr>
      </p:pic>
      <p:sp>
        <p:nvSpPr>
          <p:cNvPr id="17" name="Ellipse 16">
            <a:extLst>
              <a:ext uri="{FF2B5EF4-FFF2-40B4-BE49-F238E27FC236}">
                <a16:creationId xmlns:a16="http://schemas.microsoft.com/office/drawing/2014/main" id="{63B1CDF5-E3D8-4CF5-83B5-FEE15F8AD100}"/>
              </a:ext>
            </a:extLst>
          </p:cNvPr>
          <p:cNvSpPr/>
          <p:nvPr/>
        </p:nvSpPr>
        <p:spPr>
          <a:xfrm>
            <a:off x="10486293" y="1479538"/>
            <a:ext cx="215030" cy="223225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780C3152-E91D-492A-85BE-3811BC1188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" y="1371589"/>
            <a:ext cx="9144018" cy="5486411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F1981C44-BF8C-4DB4-99B2-04AD5E0B6E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2910" y="4571873"/>
            <a:ext cx="2064396" cy="624416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2AE3B86B-555B-4627-86E1-B79D14F2C303}"/>
              </a:ext>
            </a:extLst>
          </p:cNvPr>
          <p:cNvSpPr txBox="1"/>
          <p:nvPr/>
        </p:nvSpPr>
        <p:spPr>
          <a:xfrm>
            <a:off x="9567708" y="3429000"/>
            <a:ext cx="2624292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500" dirty="0"/>
              <a:t>Vortex dépiégé</a:t>
            </a:r>
          </a:p>
          <a:p>
            <a:endParaRPr lang="fr-FR" sz="2500" dirty="0"/>
          </a:p>
          <a:p>
            <a:r>
              <a:rPr lang="fr-FR" sz="2500" dirty="0" err="1"/>
              <a:t>I</a:t>
            </a:r>
            <a:r>
              <a:rPr lang="fr-FR" sz="2500" baseline="-25000" dirty="0" err="1"/>
              <a:t>c</a:t>
            </a:r>
            <a:r>
              <a:rPr lang="fr-FR" sz="2500" dirty="0"/>
              <a:t> = 0</a:t>
            </a:r>
          </a:p>
        </p:txBody>
      </p:sp>
      <p:sp>
        <p:nvSpPr>
          <p:cNvPr id="14" name="Titre 7">
            <a:extLst>
              <a:ext uri="{FF2B5EF4-FFF2-40B4-BE49-F238E27FC236}">
                <a16:creationId xmlns:a16="http://schemas.microsoft.com/office/drawing/2014/main" id="{507B0007-312E-411A-A763-3BAB7C28F150}"/>
              </a:ext>
            </a:extLst>
          </p:cNvPr>
          <p:cNvSpPr txBox="1">
            <a:spLocks/>
          </p:cNvSpPr>
          <p:nvPr/>
        </p:nvSpPr>
        <p:spPr>
          <a:xfrm>
            <a:off x="10768" y="344016"/>
            <a:ext cx="10515600" cy="13422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b="1" dirty="0"/>
              <a:t>Courbes I-V dans la phase vortex dépiégés</a:t>
            </a:r>
          </a:p>
        </p:txBody>
      </p:sp>
    </p:spTree>
    <p:extLst>
      <p:ext uri="{BB962C8B-B14F-4D97-AF65-F5344CB8AC3E}">
        <p14:creationId xmlns:p14="http://schemas.microsoft.com/office/powerpoint/2010/main" val="29266555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710CD98C-7D9E-41A7-AFCC-8AF0D926B9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857" y="1321062"/>
            <a:ext cx="9144018" cy="5486411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498E1B2E-4592-453B-B1D2-6B5B545D15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0" y="442762"/>
            <a:ext cx="2764736" cy="207355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5B61D96-3DED-4465-BD03-91F2B30EBDEB}"/>
              </a:ext>
            </a:extLst>
          </p:cNvPr>
          <p:cNvSpPr/>
          <p:nvPr/>
        </p:nvSpPr>
        <p:spPr>
          <a:xfrm>
            <a:off x="0" y="0"/>
            <a:ext cx="12192000" cy="42351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3A6068-251C-4982-8461-86E6FEEE7F89}"/>
              </a:ext>
            </a:extLst>
          </p:cNvPr>
          <p:cNvSpPr/>
          <p:nvPr/>
        </p:nvSpPr>
        <p:spPr>
          <a:xfrm>
            <a:off x="6096000" y="0"/>
            <a:ext cx="6096000" cy="423512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A7E166D-683E-44CC-9DD5-5E1653517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93578" y="2529999"/>
            <a:ext cx="2743200" cy="365125"/>
          </a:xfrm>
        </p:spPr>
        <p:txBody>
          <a:bodyPr/>
          <a:lstStyle/>
          <a:p>
            <a:fld id="{D4154B72-9C63-4F24-BB69-DA53AAEBB3A5}" type="slidenum">
              <a:rPr lang="fr-FR" sz="2000" smtClean="0">
                <a:solidFill>
                  <a:schemeClr val="bg1"/>
                </a:solidFill>
              </a:rPr>
              <a:t>18</a:t>
            </a:fld>
            <a:endParaRPr lang="fr-FR" sz="2000" dirty="0">
              <a:solidFill>
                <a:schemeClr val="bg1"/>
              </a:solidFill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AB0CC667-7FA4-4ADA-A8E3-3124B1B570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298913"/>
            <a:ext cx="1524000" cy="1528660"/>
          </a:xfrm>
          <a:prstGeom prst="rect">
            <a:avLst/>
          </a:prstGeom>
        </p:spPr>
      </p:pic>
      <p:sp>
        <p:nvSpPr>
          <p:cNvPr id="19" name="Espace réservé du numéro de diapositive 5">
            <a:extLst>
              <a:ext uri="{FF2B5EF4-FFF2-40B4-BE49-F238E27FC236}">
                <a16:creationId xmlns:a16="http://schemas.microsoft.com/office/drawing/2014/main" id="{C58A5256-CF99-4FEB-8966-6E30349FB5FC}"/>
              </a:ext>
            </a:extLst>
          </p:cNvPr>
          <p:cNvSpPr txBox="1">
            <a:spLocks/>
          </p:cNvSpPr>
          <p:nvPr/>
        </p:nvSpPr>
        <p:spPr>
          <a:xfrm>
            <a:off x="9315650" y="192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4154B72-9C63-4F24-BB69-DA53AAEBB3A5}" type="slidenum">
              <a:rPr lang="fr-FR" sz="2000" smtClean="0">
                <a:solidFill>
                  <a:schemeClr val="bg1"/>
                </a:solidFill>
              </a:rPr>
              <a:pPr/>
              <a:t>18</a:t>
            </a:fld>
            <a:endParaRPr lang="fr-FR" sz="2000" dirty="0">
              <a:solidFill>
                <a:schemeClr val="bg1"/>
              </a:solidFill>
            </a:endParaRPr>
          </a:p>
        </p:txBody>
      </p:sp>
      <p:sp>
        <p:nvSpPr>
          <p:cNvPr id="14" name="Titre 7">
            <a:extLst>
              <a:ext uri="{FF2B5EF4-FFF2-40B4-BE49-F238E27FC236}">
                <a16:creationId xmlns:a16="http://schemas.microsoft.com/office/drawing/2014/main" id="{507B0007-312E-411A-A763-3BAB7C28F150}"/>
              </a:ext>
            </a:extLst>
          </p:cNvPr>
          <p:cNvSpPr txBox="1">
            <a:spLocks/>
          </p:cNvSpPr>
          <p:nvPr/>
        </p:nvSpPr>
        <p:spPr>
          <a:xfrm>
            <a:off x="0" y="357187"/>
            <a:ext cx="10515600" cy="13422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b="1" dirty="0"/>
              <a:t>Courbes I-V dans la phase vortex piégés</a:t>
            </a:r>
          </a:p>
        </p:txBody>
      </p:sp>
      <p:sp>
        <p:nvSpPr>
          <p:cNvPr id="35" name="Espace réservé du numéro de diapositive 5">
            <a:extLst>
              <a:ext uri="{FF2B5EF4-FFF2-40B4-BE49-F238E27FC236}">
                <a16:creationId xmlns:a16="http://schemas.microsoft.com/office/drawing/2014/main" id="{D8153FE1-7D62-4F71-A2A8-AF5E4DBB4412}"/>
              </a:ext>
            </a:extLst>
          </p:cNvPr>
          <p:cNvSpPr txBox="1">
            <a:spLocks/>
          </p:cNvSpPr>
          <p:nvPr/>
        </p:nvSpPr>
        <p:spPr>
          <a:xfrm>
            <a:off x="0" y="29512"/>
            <a:ext cx="6096000" cy="39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sz="2000" dirty="0">
                <a:solidFill>
                  <a:schemeClr val="bg1"/>
                </a:solidFill>
              </a:rPr>
              <a:t>					 24/06/2025</a:t>
            </a:r>
          </a:p>
        </p:txBody>
      </p:sp>
      <p:pic>
        <p:nvPicPr>
          <p:cNvPr id="28" name="Image 27">
            <a:extLst>
              <a:ext uri="{FF2B5EF4-FFF2-40B4-BE49-F238E27FC236}">
                <a16:creationId xmlns:a16="http://schemas.microsoft.com/office/drawing/2014/main" id="{AF87E4F9-30FE-41F2-8267-ED823A5B7D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8055" y="4040337"/>
            <a:ext cx="1563355" cy="404013"/>
          </a:xfrm>
          <a:prstGeom prst="rect">
            <a:avLst/>
          </a:prstGeom>
        </p:spPr>
      </p:pic>
      <p:sp>
        <p:nvSpPr>
          <p:cNvPr id="7" name="Ellipse 6">
            <a:extLst>
              <a:ext uri="{FF2B5EF4-FFF2-40B4-BE49-F238E27FC236}">
                <a16:creationId xmlns:a16="http://schemas.microsoft.com/office/drawing/2014/main" id="{66D78468-B0B2-4713-9CDA-68DB561CDAA2}"/>
              </a:ext>
            </a:extLst>
          </p:cNvPr>
          <p:cNvSpPr/>
          <p:nvPr/>
        </p:nvSpPr>
        <p:spPr>
          <a:xfrm>
            <a:off x="9371405" y="1470581"/>
            <a:ext cx="221166" cy="22702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1" name="Image 30">
            <a:extLst>
              <a:ext uri="{FF2B5EF4-FFF2-40B4-BE49-F238E27FC236}">
                <a16:creationId xmlns:a16="http://schemas.microsoft.com/office/drawing/2014/main" id="{CC3F6B6A-0F82-4F2B-AC4C-0203B23D010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35857"/>
          <a:stretch/>
        </p:blipFill>
        <p:spPr>
          <a:xfrm>
            <a:off x="2278819" y="2898719"/>
            <a:ext cx="1951354" cy="915851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EB44631E-5948-4255-B074-A2570F49B3F8}"/>
              </a:ext>
            </a:extLst>
          </p:cNvPr>
          <p:cNvSpPr txBox="1"/>
          <p:nvPr/>
        </p:nvSpPr>
        <p:spPr>
          <a:xfrm>
            <a:off x="7459579" y="6174143"/>
            <a:ext cx="12609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err="1"/>
              <a:t>I</a:t>
            </a:r>
            <a:r>
              <a:rPr lang="fr-FR" sz="2400" baseline="-25000" dirty="0" err="1"/>
              <a:t>c</a:t>
            </a:r>
            <a:endParaRPr lang="fr-FR" sz="2400" baseline="-25000" dirty="0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A7DC5049-085A-4C60-B360-C5929378BE0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0634" y="2889033"/>
            <a:ext cx="2278026" cy="885900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4CA3E400-30C1-4716-857B-026DC879D6F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03677" y="3952897"/>
            <a:ext cx="2373018" cy="476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2910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5B61D96-3DED-4465-BD03-91F2B30EBDEB}"/>
              </a:ext>
            </a:extLst>
          </p:cNvPr>
          <p:cNvSpPr/>
          <p:nvPr/>
        </p:nvSpPr>
        <p:spPr>
          <a:xfrm>
            <a:off x="0" y="0"/>
            <a:ext cx="12192000" cy="42351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3A6068-251C-4982-8461-86E6FEEE7F89}"/>
              </a:ext>
            </a:extLst>
          </p:cNvPr>
          <p:cNvSpPr/>
          <p:nvPr/>
        </p:nvSpPr>
        <p:spPr>
          <a:xfrm>
            <a:off x="6096000" y="0"/>
            <a:ext cx="6096000" cy="423512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3483E8BA-0432-42AC-8FA3-A99D2476E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3262" y="540375"/>
            <a:ext cx="11081260" cy="1325563"/>
          </a:xfrm>
        </p:spPr>
        <p:txBody>
          <a:bodyPr/>
          <a:lstStyle/>
          <a:p>
            <a:r>
              <a:rPr lang="fr-FR" b="1" dirty="0"/>
              <a:t>Dépendance en champs et en température de </a:t>
            </a:r>
            <a:r>
              <a:rPr lang="fr-FR" b="1" dirty="0" err="1"/>
              <a:t>Ic</a:t>
            </a:r>
            <a:endParaRPr lang="fr-FR" b="1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A7E166D-683E-44CC-9DD5-5E1653517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54B72-9C63-4F24-BB69-DA53AAEBB3A5}" type="slidenum">
              <a:rPr lang="fr-FR" sz="2000" smtClean="0">
                <a:solidFill>
                  <a:schemeClr val="bg1"/>
                </a:solidFill>
              </a:rPr>
              <a:t>19</a:t>
            </a:fld>
            <a:endParaRPr lang="fr-FR" sz="2000" dirty="0">
              <a:solidFill>
                <a:schemeClr val="bg1"/>
              </a:solidFill>
            </a:endParaRPr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55F24D9D-D57A-491C-892F-B55139ED274B}"/>
              </a:ext>
            </a:extLst>
          </p:cNvPr>
          <p:cNvSpPr txBox="1">
            <a:spLocks/>
          </p:cNvSpPr>
          <p:nvPr/>
        </p:nvSpPr>
        <p:spPr>
          <a:xfrm>
            <a:off x="0" y="29512"/>
            <a:ext cx="6096000" cy="39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sz="2000" dirty="0">
                <a:solidFill>
                  <a:schemeClr val="bg1"/>
                </a:solidFill>
              </a:rPr>
              <a:t>					 24/06/2025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AB0CC667-7FA4-4ADA-A8E3-3124B1B570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298913"/>
            <a:ext cx="1524000" cy="1528660"/>
          </a:xfrm>
          <a:prstGeom prst="rect">
            <a:avLst/>
          </a:prstGeom>
        </p:spPr>
      </p:pic>
      <p:sp>
        <p:nvSpPr>
          <p:cNvPr id="19" name="Espace réservé du numéro de diapositive 5">
            <a:extLst>
              <a:ext uri="{FF2B5EF4-FFF2-40B4-BE49-F238E27FC236}">
                <a16:creationId xmlns:a16="http://schemas.microsoft.com/office/drawing/2014/main" id="{C58A5256-CF99-4FEB-8966-6E30349FB5FC}"/>
              </a:ext>
            </a:extLst>
          </p:cNvPr>
          <p:cNvSpPr txBox="1">
            <a:spLocks/>
          </p:cNvSpPr>
          <p:nvPr/>
        </p:nvSpPr>
        <p:spPr>
          <a:xfrm>
            <a:off x="9315650" y="192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4154B72-9C63-4F24-BB69-DA53AAEBB3A5}" type="slidenum">
              <a:rPr lang="fr-FR" sz="2000" smtClean="0">
                <a:solidFill>
                  <a:schemeClr val="bg1"/>
                </a:solidFill>
              </a:rPr>
              <a:pPr/>
              <a:t>19</a:t>
            </a:fld>
            <a:endParaRPr lang="fr-FR" sz="2000" dirty="0">
              <a:solidFill>
                <a:schemeClr val="bg1"/>
              </a:solidFill>
            </a:endParaRP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0175A2C0-7F7B-4340-8323-368FD8CCC8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1900950"/>
            <a:ext cx="6578227" cy="4933670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725E44C2-50D7-438A-A0BF-018F32EB74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695" y="1912646"/>
            <a:ext cx="6578227" cy="4933670"/>
          </a:xfrm>
          <a:prstGeom prst="rect">
            <a:avLst/>
          </a:prstGeom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68614E38-390B-459F-9EAA-FE353DD2ED2A}"/>
              </a:ext>
            </a:extLst>
          </p:cNvPr>
          <p:cNvSpPr txBox="1"/>
          <p:nvPr/>
        </p:nvSpPr>
        <p:spPr>
          <a:xfrm>
            <a:off x="8680382" y="3092270"/>
            <a:ext cx="1270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H = 6 T</a:t>
            </a:r>
            <a:endParaRPr lang="fr-FR" b="1" dirty="0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2252E99A-7AED-41BF-883B-910245846858}"/>
              </a:ext>
            </a:extLst>
          </p:cNvPr>
          <p:cNvSpPr txBox="1"/>
          <p:nvPr/>
        </p:nvSpPr>
        <p:spPr>
          <a:xfrm>
            <a:off x="-478220" y="1922916"/>
            <a:ext cx="39151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 err="1"/>
              <a:t>H</a:t>
            </a:r>
            <a:r>
              <a:rPr lang="fr-FR" sz="2400" baseline="-25000" dirty="0" err="1"/>
              <a:t>irr</a:t>
            </a:r>
            <a:r>
              <a:rPr lang="fr-FR" sz="2400" dirty="0"/>
              <a:t> 77 K</a:t>
            </a:r>
          </a:p>
        </p:txBody>
      </p: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87E524E6-258C-4BAE-8DF1-B9CD89D3ACA4}"/>
              </a:ext>
            </a:extLst>
          </p:cNvPr>
          <p:cNvCxnSpPr>
            <a:cxnSpLocks/>
          </p:cNvCxnSpPr>
          <p:nvPr/>
        </p:nvCxnSpPr>
        <p:spPr>
          <a:xfrm>
            <a:off x="2117558" y="2153748"/>
            <a:ext cx="689633" cy="3106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ZoneTexte 23">
            <a:extLst>
              <a:ext uri="{FF2B5EF4-FFF2-40B4-BE49-F238E27FC236}">
                <a16:creationId xmlns:a16="http://schemas.microsoft.com/office/drawing/2014/main" id="{5EF2D9C3-6BE4-45F7-AC0F-EEA0E5A3C0A0}"/>
              </a:ext>
            </a:extLst>
          </p:cNvPr>
          <p:cNvSpPr txBox="1"/>
          <p:nvPr/>
        </p:nvSpPr>
        <p:spPr>
          <a:xfrm>
            <a:off x="2910002" y="1692083"/>
            <a:ext cx="39151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 err="1"/>
              <a:t>H</a:t>
            </a:r>
            <a:r>
              <a:rPr lang="fr-FR" sz="2400" baseline="-25000" dirty="0" err="1"/>
              <a:t>irr</a:t>
            </a:r>
            <a:r>
              <a:rPr lang="fr-FR" sz="2400" dirty="0"/>
              <a:t> 70 K</a:t>
            </a:r>
          </a:p>
        </p:txBody>
      </p:sp>
      <p:cxnSp>
        <p:nvCxnSpPr>
          <p:cNvPr id="25" name="Connecteur droit avec flèche 24">
            <a:extLst>
              <a:ext uri="{FF2B5EF4-FFF2-40B4-BE49-F238E27FC236}">
                <a16:creationId xmlns:a16="http://schemas.microsoft.com/office/drawing/2014/main" id="{5F5C7D6A-3152-4102-B31C-E845C4C919F1}"/>
              </a:ext>
            </a:extLst>
          </p:cNvPr>
          <p:cNvCxnSpPr>
            <a:cxnSpLocks/>
          </p:cNvCxnSpPr>
          <p:nvPr/>
        </p:nvCxnSpPr>
        <p:spPr>
          <a:xfrm>
            <a:off x="4982854" y="2188760"/>
            <a:ext cx="689633" cy="3106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" name="ZoneTexte 25">
            <a:extLst>
              <a:ext uri="{FF2B5EF4-FFF2-40B4-BE49-F238E27FC236}">
                <a16:creationId xmlns:a16="http://schemas.microsoft.com/office/drawing/2014/main" id="{FDAFF532-8A1B-46D7-B386-1FB37B90A959}"/>
              </a:ext>
            </a:extLst>
          </p:cNvPr>
          <p:cNvSpPr txBox="1"/>
          <p:nvPr/>
        </p:nvSpPr>
        <p:spPr>
          <a:xfrm>
            <a:off x="11324" y="5380836"/>
            <a:ext cx="39151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/>
              <a:t>77 K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B27819DE-A187-4675-A01D-BC06E6AB0B94}"/>
              </a:ext>
            </a:extLst>
          </p:cNvPr>
          <p:cNvSpPr txBox="1"/>
          <p:nvPr/>
        </p:nvSpPr>
        <p:spPr>
          <a:xfrm>
            <a:off x="1757938" y="4311784"/>
            <a:ext cx="39151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/>
              <a:t>70 K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5E2803AB-86EB-441E-B9E8-A5311AABD87A}"/>
              </a:ext>
            </a:extLst>
          </p:cNvPr>
          <p:cNvSpPr txBox="1"/>
          <p:nvPr/>
        </p:nvSpPr>
        <p:spPr>
          <a:xfrm>
            <a:off x="1976134" y="2761135"/>
            <a:ext cx="39151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/>
              <a:t>65 K</a:t>
            </a:r>
          </a:p>
        </p:txBody>
      </p:sp>
    </p:spTree>
    <p:extLst>
      <p:ext uri="{BB962C8B-B14F-4D97-AF65-F5344CB8AC3E}">
        <p14:creationId xmlns:p14="http://schemas.microsoft.com/office/powerpoint/2010/main" val="9307914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5B61D96-3DED-4465-BD03-91F2B30EBDEB}"/>
              </a:ext>
            </a:extLst>
          </p:cNvPr>
          <p:cNvSpPr/>
          <p:nvPr/>
        </p:nvSpPr>
        <p:spPr>
          <a:xfrm>
            <a:off x="0" y="0"/>
            <a:ext cx="12192000" cy="42351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3A6068-251C-4982-8461-86E6FEEE7F89}"/>
              </a:ext>
            </a:extLst>
          </p:cNvPr>
          <p:cNvSpPr/>
          <p:nvPr/>
        </p:nvSpPr>
        <p:spPr>
          <a:xfrm>
            <a:off x="6096000" y="0"/>
            <a:ext cx="6096000" cy="423512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A7E166D-683E-44CC-9DD5-5E1653517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54B72-9C63-4F24-BB69-DA53AAEBB3A5}" type="slidenum">
              <a:rPr lang="fr-FR" sz="2000" smtClean="0">
                <a:solidFill>
                  <a:schemeClr val="bg1"/>
                </a:solidFill>
              </a:rPr>
              <a:t>20</a:t>
            </a:fld>
            <a:endParaRPr lang="fr-FR" sz="2000" dirty="0">
              <a:solidFill>
                <a:schemeClr val="bg1"/>
              </a:solidFill>
            </a:endParaRPr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55F24D9D-D57A-491C-892F-B55139ED274B}"/>
              </a:ext>
            </a:extLst>
          </p:cNvPr>
          <p:cNvSpPr txBox="1">
            <a:spLocks/>
          </p:cNvSpPr>
          <p:nvPr/>
        </p:nvSpPr>
        <p:spPr>
          <a:xfrm>
            <a:off x="0" y="29512"/>
            <a:ext cx="6096000" cy="39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sz="2000" dirty="0">
                <a:solidFill>
                  <a:schemeClr val="bg1"/>
                </a:solidFill>
              </a:rPr>
              <a:t>					 24/06/2025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AB0CC667-7FA4-4ADA-A8E3-3124B1B570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298913"/>
            <a:ext cx="1524000" cy="1528660"/>
          </a:xfrm>
          <a:prstGeom prst="rect">
            <a:avLst/>
          </a:prstGeom>
        </p:spPr>
      </p:pic>
      <p:sp>
        <p:nvSpPr>
          <p:cNvPr id="19" name="Espace réservé du numéro de diapositive 5">
            <a:extLst>
              <a:ext uri="{FF2B5EF4-FFF2-40B4-BE49-F238E27FC236}">
                <a16:creationId xmlns:a16="http://schemas.microsoft.com/office/drawing/2014/main" id="{C58A5256-CF99-4FEB-8966-6E30349FB5FC}"/>
              </a:ext>
            </a:extLst>
          </p:cNvPr>
          <p:cNvSpPr txBox="1">
            <a:spLocks/>
          </p:cNvSpPr>
          <p:nvPr/>
        </p:nvSpPr>
        <p:spPr>
          <a:xfrm>
            <a:off x="9315650" y="192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4154B72-9C63-4F24-BB69-DA53AAEBB3A5}" type="slidenum">
              <a:rPr lang="fr-FR" sz="2000" smtClean="0">
                <a:solidFill>
                  <a:schemeClr val="bg1"/>
                </a:solidFill>
              </a:rPr>
              <a:pPr/>
              <a:t>20</a:t>
            </a:fld>
            <a:endParaRPr lang="fr-FR" sz="2000" dirty="0">
              <a:solidFill>
                <a:schemeClr val="bg1"/>
              </a:solidFill>
            </a:endParaRPr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3483E8BA-0432-42AC-8FA3-A99D2476E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3262" y="329524"/>
            <a:ext cx="11081260" cy="1325563"/>
          </a:xfrm>
        </p:spPr>
        <p:txBody>
          <a:bodyPr/>
          <a:lstStyle/>
          <a:p>
            <a:r>
              <a:rPr lang="fr-FR" b="1" dirty="0"/>
              <a:t>Comparaison champ pulsé et DC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64B5D48E-592A-499E-8E91-49B12FD429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3999" y="1473859"/>
            <a:ext cx="8614626" cy="5384141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DC3F9161-0BA4-42C9-B8C0-F725D88CF3A1}"/>
              </a:ext>
            </a:extLst>
          </p:cNvPr>
          <p:cNvSpPr txBox="1"/>
          <p:nvPr/>
        </p:nvSpPr>
        <p:spPr>
          <a:xfrm>
            <a:off x="4305653" y="1593489"/>
            <a:ext cx="39151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 err="1"/>
              <a:t>H</a:t>
            </a:r>
            <a:r>
              <a:rPr lang="fr-FR" sz="2400" baseline="-25000" dirty="0" err="1"/>
              <a:t>irr</a:t>
            </a:r>
            <a:r>
              <a:rPr lang="fr-FR" sz="2400" dirty="0"/>
              <a:t> 77 K</a:t>
            </a:r>
          </a:p>
        </p:txBody>
      </p: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42996AD4-E2E3-4514-951C-6D4D9C0FAE3F}"/>
              </a:ext>
            </a:extLst>
          </p:cNvPr>
          <p:cNvCxnSpPr>
            <a:cxnSpLocks/>
          </p:cNvCxnSpPr>
          <p:nvPr/>
        </p:nvCxnSpPr>
        <p:spPr>
          <a:xfrm flipH="1">
            <a:off x="5084957" y="1864498"/>
            <a:ext cx="61331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ZoneTexte 14">
            <a:extLst>
              <a:ext uri="{FF2B5EF4-FFF2-40B4-BE49-F238E27FC236}">
                <a16:creationId xmlns:a16="http://schemas.microsoft.com/office/drawing/2014/main" id="{97F419BB-2643-423E-B7A9-7AAB01EF74EA}"/>
              </a:ext>
            </a:extLst>
          </p:cNvPr>
          <p:cNvSpPr txBox="1"/>
          <p:nvPr/>
        </p:nvSpPr>
        <p:spPr>
          <a:xfrm>
            <a:off x="7883446" y="3122317"/>
            <a:ext cx="39151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 err="1"/>
              <a:t>H</a:t>
            </a:r>
            <a:r>
              <a:rPr lang="fr-FR" sz="2400" baseline="-25000" dirty="0" err="1"/>
              <a:t>irr</a:t>
            </a:r>
            <a:r>
              <a:rPr lang="fr-FR" sz="2400" dirty="0"/>
              <a:t> 70 K</a:t>
            </a:r>
          </a:p>
        </p:txBody>
      </p: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296D939B-6936-41B8-B851-75D2E0C11EE6}"/>
              </a:ext>
            </a:extLst>
          </p:cNvPr>
          <p:cNvCxnSpPr>
            <a:cxnSpLocks/>
          </p:cNvCxnSpPr>
          <p:nvPr/>
        </p:nvCxnSpPr>
        <p:spPr>
          <a:xfrm flipH="1">
            <a:off x="8530684" y="3387574"/>
            <a:ext cx="645288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ZoneTexte 16">
            <a:extLst>
              <a:ext uri="{FF2B5EF4-FFF2-40B4-BE49-F238E27FC236}">
                <a16:creationId xmlns:a16="http://schemas.microsoft.com/office/drawing/2014/main" id="{26040B9B-3058-412B-B039-332A34F3CED4}"/>
              </a:ext>
            </a:extLst>
          </p:cNvPr>
          <p:cNvSpPr txBox="1"/>
          <p:nvPr/>
        </p:nvSpPr>
        <p:spPr>
          <a:xfrm>
            <a:off x="2180822" y="4892887"/>
            <a:ext cx="39151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/>
              <a:t>77 K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BF925498-F897-42BC-B727-D2489AF099BE}"/>
              </a:ext>
            </a:extLst>
          </p:cNvPr>
          <p:cNvSpPr txBox="1"/>
          <p:nvPr/>
        </p:nvSpPr>
        <p:spPr>
          <a:xfrm>
            <a:off x="4715999" y="4578734"/>
            <a:ext cx="39151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/>
              <a:t>70 K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9E4D61BD-A284-4628-860E-D81D8A530016}"/>
              </a:ext>
            </a:extLst>
          </p:cNvPr>
          <p:cNvSpPr txBox="1"/>
          <p:nvPr/>
        </p:nvSpPr>
        <p:spPr>
          <a:xfrm>
            <a:off x="5260794" y="2384581"/>
            <a:ext cx="39151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/>
              <a:t>65 K</a:t>
            </a:r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1EFDFA32-4F0F-408F-9731-0728F19963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1" y="3387574"/>
            <a:ext cx="374550" cy="1003259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DE56F3CD-3AB9-4088-9EBB-FEEA470F703A}"/>
              </a:ext>
            </a:extLst>
          </p:cNvPr>
          <p:cNvSpPr txBox="1"/>
          <p:nvPr/>
        </p:nvSpPr>
        <p:spPr>
          <a:xfrm>
            <a:off x="10181384" y="5092942"/>
            <a:ext cx="20106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Bon accord !</a:t>
            </a:r>
          </a:p>
        </p:txBody>
      </p:sp>
    </p:spTree>
    <p:extLst>
      <p:ext uri="{BB962C8B-B14F-4D97-AF65-F5344CB8AC3E}">
        <p14:creationId xmlns:p14="http://schemas.microsoft.com/office/powerpoint/2010/main" val="3545409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3AD960B8-CB01-43CD-B5AC-90BF4B42C3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1" y="1131818"/>
            <a:ext cx="9113209" cy="569575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5B61D96-3DED-4465-BD03-91F2B30EBDEB}"/>
              </a:ext>
            </a:extLst>
          </p:cNvPr>
          <p:cNvSpPr/>
          <p:nvPr/>
        </p:nvSpPr>
        <p:spPr>
          <a:xfrm>
            <a:off x="0" y="0"/>
            <a:ext cx="12192000" cy="42351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3A6068-251C-4982-8461-86E6FEEE7F89}"/>
              </a:ext>
            </a:extLst>
          </p:cNvPr>
          <p:cNvSpPr/>
          <p:nvPr/>
        </p:nvSpPr>
        <p:spPr>
          <a:xfrm>
            <a:off x="6096000" y="0"/>
            <a:ext cx="6096000" cy="423512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A7E166D-683E-44CC-9DD5-5E1653517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54B72-9C63-4F24-BB69-DA53AAEBB3A5}" type="slidenum">
              <a:rPr lang="fr-FR" sz="2000" smtClean="0">
                <a:solidFill>
                  <a:schemeClr val="bg1"/>
                </a:solidFill>
              </a:rPr>
              <a:t>21</a:t>
            </a:fld>
            <a:endParaRPr lang="fr-FR" sz="2000" dirty="0">
              <a:solidFill>
                <a:schemeClr val="bg1"/>
              </a:solidFill>
            </a:endParaRPr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55F24D9D-D57A-491C-892F-B55139ED274B}"/>
              </a:ext>
            </a:extLst>
          </p:cNvPr>
          <p:cNvSpPr txBox="1">
            <a:spLocks/>
          </p:cNvSpPr>
          <p:nvPr/>
        </p:nvSpPr>
        <p:spPr>
          <a:xfrm>
            <a:off x="0" y="29512"/>
            <a:ext cx="6096000" cy="39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sz="2000" dirty="0">
                <a:solidFill>
                  <a:schemeClr val="bg1"/>
                </a:solidFill>
              </a:rPr>
              <a:t>					 24/06/2025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AB0CC667-7FA4-4ADA-A8E3-3124B1B570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298913"/>
            <a:ext cx="1524000" cy="1528660"/>
          </a:xfrm>
          <a:prstGeom prst="rect">
            <a:avLst/>
          </a:prstGeom>
        </p:spPr>
      </p:pic>
      <p:sp>
        <p:nvSpPr>
          <p:cNvPr id="19" name="Espace réservé du numéro de diapositive 5">
            <a:extLst>
              <a:ext uri="{FF2B5EF4-FFF2-40B4-BE49-F238E27FC236}">
                <a16:creationId xmlns:a16="http://schemas.microsoft.com/office/drawing/2014/main" id="{C58A5256-CF99-4FEB-8966-6E30349FB5FC}"/>
              </a:ext>
            </a:extLst>
          </p:cNvPr>
          <p:cNvSpPr txBox="1">
            <a:spLocks/>
          </p:cNvSpPr>
          <p:nvPr/>
        </p:nvSpPr>
        <p:spPr>
          <a:xfrm>
            <a:off x="9315650" y="192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4154B72-9C63-4F24-BB69-DA53AAEBB3A5}" type="slidenum">
              <a:rPr lang="fr-FR" sz="2000" smtClean="0">
                <a:solidFill>
                  <a:schemeClr val="bg1"/>
                </a:solidFill>
              </a:rPr>
              <a:pPr/>
              <a:t>21</a:t>
            </a:fld>
            <a:endParaRPr lang="fr-FR" sz="2000" dirty="0">
              <a:solidFill>
                <a:schemeClr val="bg1"/>
              </a:solidFill>
            </a:endParaRPr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3483E8BA-0432-42AC-8FA3-A99D2476E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3262" y="329524"/>
            <a:ext cx="11081260" cy="1325563"/>
          </a:xfrm>
        </p:spPr>
        <p:txBody>
          <a:bodyPr/>
          <a:lstStyle/>
          <a:p>
            <a:r>
              <a:rPr lang="fr-FR" b="1" dirty="0"/>
              <a:t>Mesure à haut champ magnétique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26040B9B-3058-412B-B039-332A34F3CED4}"/>
              </a:ext>
            </a:extLst>
          </p:cNvPr>
          <p:cNvSpPr txBox="1"/>
          <p:nvPr/>
        </p:nvSpPr>
        <p:spPr>
          <a:xfrm>
            <a:off x="574726" y="4837248"/>
            <a:ext cx="39151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/>
              <a:t>77 K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BF925498-F897-42BC-B727-D2489AF099BE}"/>
              </a:ext>
            </a:extLst>
          </p:cNvPr>
          <p:cNvSpPr txBox="1"/>
          <p:nvPr/>
        </p:nvSpPr>
        <p:spPr>
          <a:xfrm>
            <a:off x="2316790" y="5332990"/>
            <a:ext cx="39151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/>
              <a:t>70 K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9E4D61BD-A284-4628-860E-D81D8A530016}"/>
              </a:ext>
            </a:extLst>
          </p:cNvPr>
          <p:cNvSpPr txBox="1"/>
          <p:nvPr/>
        </p:nvSpPr>
        <p:spPr>
          <a:xfrm>
            <a:off x="3259872" y="3414953"/>
            <a:ext cx="39151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/>
              <a:t>65 K</a:t>
            </a:r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1EFDFA32-4F0F-408F-9731-0728F19963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726" y="3236967"/>
            <a:ext cx="374550" cy="1003259"/>
          </a:xfrm>
          <a:prstGeom prst="rect">
            <a:avLst/>
          </a:prstGeom>
        </p:spPr>
      </p:pic>
      <p:sp>
        <p:nvSpPr>
          <p:cNvPr id="21" name="ZoneTexte 20">
            <a:extLst>
              <a:ext uri="{FF2B5EF4-FFF2-40B4-BE49-F238E27FC236}">
                <a16:creationId xmlns:a16="http://schemas.microsoft.com/office/drawing/2014/main" id="{9BD0B0CD-CC93-46C1-839C-B49FD2F8397B}"/>
              </a:ext>
            </a:extLst>
          </p:cNvPr>
          <p:cNvSpPr txBox="1"/>
          <p:nvPr/>
        </p:nvSpPr>
        <p:spPr>
          <a:xfrm>
            <a:off x="6653011" y="2990712"/>
            <a:ext cx="39151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/>
              <a:t>50 K</a:t>
            </a:r>
          </a:p>
        </p:txBody>
      </p:sp>
    </p:spTree>
    <p:extLst>
      <p:ext uri="{BB962C8B-B14F-4D97-AF65-F5344CB8AC3E}">
        <p14:creationId xmlns:p14="http://schemas.microsoft.com/office/powerpoint/2010/main" val="28083152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5B61D96-3DED-4465-BD03-91F2B30EBDEB}"/>
              </a:ext>
            </a:extLst>
          </p:cNvPr>
          <p:cNvSpPr/>
          <p:nvPr/>
        </p:nvSpPr>
        <p:spPr>
          <a:xfrm>
            <a:off x="0" y="0"/>
            <a:ext cx="12192000" cy="42351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3A6068-251C-4982-8461-86E6FEEE7F89}"/>
              </a:ext>
            </a:extLst>
          </p:cNvPr>
          <p:cNvSpPr/>
          <p:nvPr/>
        </p:nvSpPr>
        <p:spPr>
          <a:xfrm>
            <a:off x="6096000" y="0"/>
            <a:ext cx="6096000" cy="423512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A7E166D-683E-44CC-9DD5-5E1653517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54B72-9C63-4F24-BB69-DA53AAEBB3A5}" type="slidenum">
              <a:rPr lang="fr-FR" sz="2000" smtClean="0">
                <a:solidFill>
                  <a:schemeClr val="bg1"/>
                </a:solidFill>
              </a:rPr>
              <a:t>22</a:t>
            </a:fld>
            <a:endParaRPr lang="fr-FR" sz="2000" dirty="0">
              <a:solidFill>
                <a:schemeClr val="bg1"/>
              </a:solidFill>
            </a:endParaRPr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55F24D9D-D57A-491C-892F-B55139ED274B}"/>
              </a:ext>
            </a:extLst>
          </p:cNvPr>
          <p:cNvSpPr txBox="1">
            <a:spLocks/>
          </p:cNvSpPr>
          <p:nvPr/>
        </p:nvSpPr>
        <p:spPr>
          <a:xfrm>
            <a:off x="0" y="29512"/>
            <a:ext cx="6096000" cy="39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sz="2000" dirty="0">
                <a:solidFill>
                  <a:schemeClr val="bg1"/>
                </a:solidFill>
              </a:rPr>
              <a:t>					 24/06/2025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AB0CC667-7FA4-4ADA-A8E3-3124B1B570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298913"/>
            <a:ext cx="1524000" cy="1528660"/>
          </a:xfrm>
          <a:prstGeom prst="rect">
            <a:avLst/>
          </a:prstGeom>
        </p:spPr>
      </p:pic>
      <p:sp>
        <p:nvSpPr>
          <p:cNvPr id="19" name="Espace réservé du numéro de diapositive 5">
            <a:extLst>
              <a:ext uri="{FF2B5EF4-FFF2-40B4-BE49-F238E27FC236}">
                <a16:creationId xmlns:a16="http://schemas.microsoft.com/office/drawing/2014/main" id="{C58A5256-CF99-4FEB-8966-6E30349FB5FC}"/>
              </a:ext>
            </a:extLst>
          </p:cNvPr>
          <p:cNvSpPr txBox="1">
            <a:spLocks/>
          </p:cNvSpPr>
          <p:nvPr/>
        </p:nvSpPr>
        <p:spPr>
          <a:xfrm>
            <a:off x="9315650" y="192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4154B72-9C63-4F24-BB69-DA53AAEBB3A5}" type="slidenum">
              <a:rPr lang="fr-FR" sz="2000" smtClean="0">
                <a:solidFill>
                  <a:schemeClr val="bg1"/>
                </a:solidFill>
              </a:rPr>
              <a:pPr/>
              <a:t>22</a:t>
            </a:fld>
            <a:endParaRPr lang="fr-FR" sz="2000" dirty="0">
              <a:solidFill>
                <a:schemeClr val="bg1"/>
              </a:solidFill>
            </a:endParaRPr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3483E8BA-0432-42AC-8FA3-A99D2476E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3262" y="329524"/>
            <a:ext cx="11081260" cy="1325563"/>
          </a:xfrm>
        </p:spPr>
        <p:txBody>
          <a:bodyPr/>
          <a:lstStyle/>
          <a:p>
            <a:r>
              <a:rPr lang="fr-FR" b="1" dirty="0"/>
              <a:t>Conclusion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CBB930D8-946C-4A89-9543-A6FB077229B1}"/>
              </a:ext>
            </a:extLst>
          </p:cNvPr>
          <p:cNvSpPr txBox="1"/>
          <p:nvPr/>
        </p:nvSpPr>
        <p:spPr>
          <a:xfrm>
            <a:off x="77002" y="1914970"/>
            <a:ext cx="12192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 err="1"/>
              <a:t>Set-up</a:t>
            </a:r>
            <a:r>
              <a:rPr lang="fr-FR" sz="2800" dirty="0"/>
              <a:t> qualifié : Bon accord entre les mesures DC et pulsées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fr-FR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/>
              <a:t>Perspectives : </a:t>
            </a:r>
          </a:p>
          <a:p>
            <a:r>
              <a:rPr lang="fr-FR" sz="2800" dirty="0"/>
              <a:t>	</a:t>
            </a:r>
          </a:p>
          <a:p>
            <a:r>
              <a:rPr lang="fr-FR" sz="2800" dirty="0"/>
              <a:t>	Mesures d’échantillons avec différentes nanostructures en champ extrême</a:t>
            </a:r>
          </a:p>
          <a:p>
            <a:endParaRPr lang="fr-FR" sz="2800" dirty="0"/>
          </a:p>
          <a:p>
            <a:r>
              <a:rPr lang="fr-FR" sz="2800" dirty="0"/>
              <a:t>	</a:t>
            </a:r>
            <a:endParaRPr lang="fr-FR" sz="2800" baseline="-25000" dirty="0"/>
          </a:p>
        </p:txBody>
      </p:sp>
    </p:spTree>
    <p:extLst>
      <p:ext uri="{BB962C8B-B14F-4D97-AF65-F5344CB8AC3E}">
        <p14:creationId xmlns:p14="http://schemas.microsoft.com/office/powerpoint/2010/main" val="5638911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5B61D96-3DED-4465-BD03-91F2B30EBDEB}"/>
              </a:ext>
            </a:extLst>
          </p:cNvPr>
          <p:cNvSpPr/>
          <p:nvPr/>
        </p:nvSpPr>
        <p:spPr>
          <a:xfrm>
            <a:off x="0" y="0"/>
            <a:ext cx="12192000" cy="42351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3A6068-251C-4982-8461-86E6FEEE7F89}"/>
              </a:ext>
            </a:extLst>
          </p:cNvPr>
          <p:cNvSpPr/>
          <p:nvPr/>
        </p:nvSpPr>
        <p:spPr>
          <a:xfrm>
            <a:off x="6096000" y="0"/>
            <a:ext cx="6096000" cy="423512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A7E166D-683E-44CC-9DD5-5E1653517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54B72-9C63-4F24-BB69-DA53AAEBB3A5}" type="slidenum">
              <a:rPr lang="fr-FR" sz="2000" smtClean="0">
                <a:solidFill>
                  <a:schemeClr val="bg1"/>
                </a:solidFill>
              </a:rPr>
              <a:t>23</a:t>
            </a:fld>
            <a:endParaRPr lang="fr-FR" sz="2000" dirty="0">
              <a:solidFill>
                <a:schemeClr val="bg1"/>
              </a:solidFill>
            </a:endParaRPr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55F24D9D-D57A-491C-892F-B55139ED274B}"/>
              </a:ext>
            </a:extLst>
          </p:cNvPr>
          <p:cNvSpPr txBox="1">
            <a:spLocks/>
          </p:cNvSpPr>
          <p:nvPr/>
        </p:nvSpPr>
        <p:spPr>
          <a:xfrm>
            <a:off x="0" y="29512"/>
            <a:ext cx="6096000" cy="39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sz="2000" dirty="0">
                <a:solidFill>
                  <a:schemeClr val="bg1"/>
                </a:solidFill>
              </a:rPr>
              <a:t>					 23/06/2025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AB0CC667-7FA4-4ADA-A8E3-3124B1B570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298913"/>
            <a:ext cx="1524000" cy="1528660"/>
          </a:xfrm>
          <a:prstGeom prst="rect">
            <a:avLst/>
          </a:prstGeom>
        </p:spPr>
      </p:pic>
      <p:sp>
        <p:nvSpPr>
          <p:cNvPr id="19" name="Espace réservé du numéro de diapositive 5">
            <a:extLst>
              <a:ext uri="{FF2B5EF4-FFF2-40B4-BE49-F238E27FC236}">
                <a16:creationId xmlns:a16="http://schemas.microsoft.com/office/drawing/2014/main" id="{C58A5256-CF99-4FEB-8966-6E30349FB5FC}"/>
              </a:ext>
            </a:extLst>
          </p:cNvPr>
          <p:cNvSpPr txBox="1">
            <a:spLocks/>
          </p:cNvSpPr>
          <p:nvPr/>
        </p:nvSpPr>
        <p:spPr>
          <a:xfrm>
            <a:off x="9315650" y="192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4154B72-9C63-4F24-BB69-DA53AAEBB3A5}" type="slidenum">
              <a:rPr lang="fr-FR" sz="2000" smtClean="0">
                <a:solidFill>
                  <a:schemeClr val="bg1"/>
                </a:solidFill>
              </a:rPr>
              <a:pPr/>
              <a:t>23</a:t>
            </a:fld>
            <a:endParaRPr lang="fr-FR" sz="2000" dirty="0">
              <a:solidFill>
                <a:schemeClr val="bg1"/>
              </a:solidFill>
            </a:endParaRPr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3483E8BA-0432-42AC-8FA3-A99D2476E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3262" y="329524"/>
            <a:ext cx="11081260" cy="1325563"/>
          </a:xfrm>
        </p:spPr>
        <p:txBody>
          <a:bodyPr/>
          <a:lstStyle/>
          <a:p>
            <a:r>
              <a:rPr lang="fr-FR" b="1" dirty="0"/>
              <a:t>Champ pulsé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9F042BA8-C97C-481F-AD88-76327C6C0F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521375"/>
            <a:ext cx="5903016" cy="4427262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FD6418B2-06BE-4691-9250-36AA70E213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89870"/>
            <a:ext cx="5116937" cy="3837703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E5CA0E9B-45CB-4C6A-A24D-025D56DC82C9}"/>
              </a:ext>
            </a:extLst>
          </p:cNvPr>
          <p:cNvSpPr txBox="1"/>
          <p:nvPr/>
        </p:nvSpPr>
        <p:spPr>
          <a:xfrm>
            <a:off x="8509299" y="4971316"/>
            <a:ext cx="5903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Cryostat 1,5K </a:t>
            </a:r>
          </a:p>
        </p:txBody>
      </p:sp>
    </p:spTree>
    <p:extLst>
      <p:ext uri="{BB962C8B-B14F-4D97-AF65-F5344CB8AC3E}">
        <p14:creationId xmlns:p14="http://schemas.microsoft.com/office/powerpoint/2010/main" val="184509289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29211</TotalTime>
  <Words>890</Words>
  <Application>Microsoft Office PowerPoint</Application>
  <PresentationFormat>Grand écran</PresentationFormat>
  <Paragraphs>257</Paragraphs>
  <Slides>23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29" baseType="lpstr">
      <vt:lpstr>Arial</vt:lpstr>
      <vt:lpstr>Calibri</vt:lpstr>
      <vt:lpstr>Calibri Light</vt:lpstr>
      <vt:lpstr>Crimson Pro</vt:lpstr>
      <vt:lpstr>Wingdings</vt:lpstr>
      <vt:lpstr>Thème Office</vt:lpstr>
      <vt:lpstr>Transport électrique dans les rubans HTS</vt:lpstr>
      <vt:lpstr>Présentation PowerPoint</vt:lpstr>
      <vt:lpstr>Présentation PowerPoint</vt:lpstr>
      <vt:lpstr>Présentation PowerPoint</vt:lpstr>
      <vt:lpstr>Présentation PowerPoint</vt:lpstr>
      <vt:lpstr>Nécessité des champs pulsés</vt:lpstr>
      <vt:lpstr>Objectifs du stage</vt:lpstr>
      <vt:lpstr>Échantillons YBCO de CERACO</vt:lpstr>
      <vt:lpstr>Méthodes de mesure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Dépendance en champs et en température de Ic</vt:lpstr>
      <vt:lpstr>Comparaison champ pulsé et DC</vt:lpstr>
      <vt:lpstr>Mesure à haut champ magnétique</vt:lpstr>
      <vt:lpstr>Conclusion</vt:lpstr>
      <vt:lpstr>Champ pulsé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Johan GRAGLIA</dc:creator>
  <cp:lastModifiedBy>Leroux</cp:lastModifiedBy>
  <cp:revision>143</cp:revision>
  <dcterms:created xsi:type="dcterms:W3CDTF">2025-03-14T10:15:02Z</dcterms:created>
  <dcterms:modified xsi:type="dcterms:W3CDTF">2025-06-24T17:37:09Z</dcterms:modified>
</cp:coreProperties>
</file>